
<file path=[Content_Types].xml><?xml version="1.0" encoding="utf-8"?>
<Types xmlns="http://schemas.openxmlformats.org/package/2006/content-types">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81"/>
    <p:restoredTop sz="96229"/>
  </p:normalViewPr>
  <p:slideViewPr>
    <p:cSldViewPr snapToGrid="0" snapToObjects="1">
      <p:cViewPr>
        <p:scale>
          <a:sx n="101" d="100"/>
          <a:sy n="101" d="100"/>
        </p:scale>
        <p:origin x="520"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Feuille_de_calcul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Feuille_de_calcul_Microsoft_Excel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σ(z)</c:v>
                </c:pt>
              </c:strCache>
            </c:strRef>
          </c:tx>
          <c:spPr>
            <a:ln w="38100" cap="flat">
              <a:solidFill>
                <a:srgbClr val="1D4ED8"/>
              </a:solidFill>
              <a:prstDash val="solid"/>
              <a:round/>
            </a:ln>
            <a:effectLst/>
          </c:spPr>
          <c:marker>
            <c:symbol val="circle"/>
            <c:size val="6"/>
            <c:spPr>
              <a:solidFill>
                <a:srgbClr val="1D4ED8"/>
              </a:solidFill>
              <a:ln w="9525" cap="flat">
                <a:solidFill>
                  <a:srgbClr val="1D4ED8"/>
                </a:solidFill>
                <a:prstDash val="solid"/>
                <a:round/>
              </a:ln>
              <a:effectLst/>
            </c:spPr>
          </c:marker>
          <c:cat>
            <c:strRef>
              <c:f>Sheet1!$A$2:$A$8</c:f>
              <c:strCache>
                <c:ptCount val="7"/>
                <c:pt idx="0">
                  <c:v>-6</c:v>
                </c:pt>
                <c:pt idx="1">
                  <c:v>-4</c:v>
                </c:pt>
                <c:pt idx="2">
                  <c:v>-2</c:v>
                </c:pt>
                <c:pt idx="3">
                  <c:v>0</c:v>
                </c:pt>
                <c:pt idx="4">
                  <c:v>2</c:v>
                </c:pt>
                <c:pt idx="5">
                  <c:v>4</c:v>
                </c:pt>
                <c:pt idx="6">
                  <c:v>6</c:v>
                </c:pt>
              </c:strCache>
            </c:strRef>
          </c:cat>
          <c:val>
            <c:numRef>
              <c:f>Sheet1!$B$2:$B$8</c:f>
              <c:numCache>
                <c:formatCode>General</c:formatCode>
                <c:ptCount val="7"/>
                <c:pt idx="0">
                  <c:v>2E-3</c:v>
                </c:pt>
                <c:pt idx="1">
                  <c:v>1.7999999999999999E-2</c:v>
                </c:pt>
                <c:pt idx="2">
                  <c:v>0.11899999999999999</c:v>
                </c:pt>
                <c:pt idx="3">
                  <c:v>0.5</c:v>
                </c:pt>
                <c:pt idx="4">
                  <c:v>0.88100000000000001</c:v>
                </c:pt>
                <c:pt idx="5">
                  <c:v>0.98199999999999998</c:v>
                </c:pt>
                <c:pt idx="6">
                  <c:v>0.998</c:v>
                </c:pt>
              </c:numCache>
            </c:numRef>
          </c:val>
          <c:smooth val="0"/>
          <c:extLst>
            <c:ext xmlns:c16="http://schemas.microsoft.com/office/drawing/2014/chart" uri="{C3380CC4-5D6E-409C-BE32-E72D297353CC}">
              <c16:uniqueId val="{00000000-8CC0-4A4A-9BD3-5EB1A0FB316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0.2"/>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coût</c:v>
                </c:pt>
              </c:strCache>
            </c:strRef>
          </c:tx>
          <c:spPr>
            <a:ln w="31750" cap="flat">
              <a:solidFill>
                <a:srgbClr val="10B981"/>
              </a:solidFill>
              <a:prstDash val="solid"/>
              <a:round/>
            </a:ln>
            <a:effectLst/>
          </c:spPr>
          <c:marker>
            <c:symbol val="circle"/>
            <c:size val="6"/>
            <c:spPr>
              <a:solidFill>
                <a:srgbClr val="10B981"/>
              </a:solidFill>
              <a:ln w="9525" cap="flat">
                <a:solidFill>
                  <a:srgbClr val="10B981"/>
                </a:solidFill>
                <a:prstDash val="solid"/>
                <a:round/>
              </a:ln>
              <a:effectLst/>
            </c:spPr>
          </c:marker>
          <c:cat>
            <c:strRef>
              <c:f>Sheet1!$A$2:$A$7</c:f>
              <c:strCache>
                <c:ptCount val="6"/>
                <c:pt idx="0">
                  <c:v>0</c:v>
                </c:pt>
                <c:pt idx="1">
                  <c:v>1k</c:v>
                </c:pt>
                <c:pt idx="2">
                  <c:v>2k</c:v>
                </c:pt>
                <c:pt idx="3">
                  <c:v>3k</c:v>
                </c:pt>
                <c:pt idx="4">
                  <c:v>4k</c:v>
                </c:pt>
                <c:pt idx="5">
                  <c:v>5k</c:v>
                </c:pt>
              </c:strCache>
            </c:strRef>
          </c:cat>
          <c:val>
            <c:numRef>
              <c:f>Sheet1!$B$2:$B$7</c:f>
              <c:numCache>
                <c:formatCode>General</c:formatCode>
                <c:ptCount val="6"/>
                <c:pt idx="0">
                  <c:v>0.69</c:v>
                </c:pt>
                <c:pt idx="1">
                  <c:v>0.57999999999999996</c:v>
                </c:pt>
                <c:pt idx="2">
                  <c:v>0.5</c:v>
                </c:pt>
                <c:pt idx="3">
                  <c:v>0.46</c:v>
                </c:pt>
                <c:pt idx="4">
                  <c:v>0.44</c:v>
                </c:pt>
                <c:pt idx="5">
                  <c:v>0.43</c:v>
                </c:pt>
              </c:numCache>
            </c:numRef>
          </c:val>
          <c:smooth val="0"/>
          <c:extLst>
            <c:ext xmlns:c16="http://schemas.microsoft.com/office/drawing/2014/chart" uri="{C3380CC4-5D6E-409C-BE32-E72D297353CC}">
              <c16:uniqueId val="{00000000-8AD1-BD40-96BB-82257B061A2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0.75"/>
          <c:min val="0.3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|poids|</c:v>
                </c:pt>
              </c:strCache>
            </c:strRef>
          </c:tx>
          <c:spPr>
            <a:solidFill>
              <a:srgbClr val="1D4ED8"/>
            </a:solidFill>
            <a:effectLst/>
          </c:spPr>
          <c:invertIfNegative val="0"/>
          <c:cat>
            <c:strRef>
              <c:f>Sheet1!$A$2:$A$5</c:f>
              <c:strCache>
                <c:ptCount val="4"/>
                <c:pt idx="0">
                  <c:v>Variable A</c:v>
                </c:pt>
                <c:pt idx="1">
                  <c:v>Variable B</c:v>
                </c:pt>
                <c:pt idx="2">
                  <c:v>Variable C</c:v>
                </c:pt>
                <c:pt idx="3">
                  <c:v>Variable D</c:v>
                </c:pt>
              </c:strCache>
            </c:strRef>
          </c:cat>
          <c:val>
            <c:numRef>
              <c:f>Sheet1!$B$2:$B$5</c:f>
              <c:numCache>
                <c:formatCode>General</c:formatCode>
                <c:ptCount val="4"/>
                <c:pt idx="0">
                  <c:v>0.82</c:v>
                </c:pt>
                <c:pt idx="1">
                  <c:v>0.46</c:v>
                </c:pt>
                <c:pt idx="2">
                  <c:v>0.31</c:v>
                </c:pt>
                <c:pt idx="3">
                  <c:v>0.12</c:v>
                </c:pt>
              </c:numCache>
            </c:numRef>
          </c:val>
          <c:extLst>
            <c:ext xmlns:c16="http://schemas.microsoft.com/office/drawing/2014/chart" uri="{C3380CC4-5D6E-409C-BE32-E72D297353CC}">
              <c16:uniqueId val="{00000000-1AB2-E44F-987D-8CD2D9D2BFC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1312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Présenter le cadre : projet Math-Info, objectif pédagogique, modèle codé nous-mêmes. Annoncer que la présentation suit le pipeline complet : données, mathématiques, implémentation, entraînement, évaluation, interprétation, limites.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Expliquer que la professeure attend à la fois le projet, les défis et les solutions. Notre présentation est construite pour vérifier ces trois aspects : 1) compréhension du modèle, 2) implémentation manuelle, 3) évaluation et analyse critique.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F172A"/>
                </a:solidFill>
              </a:rPr>
              <a:t>Message à faire passer : nous ne </a:t>
            </a:r>
            <a:r>
              <a:rPr lang="en-US" sz="1200" b="1" dirty="0" err="1">
                <a:solidFill>
                  <a:srgbClr val="0F172A"/>
                </a:solidFill>
              </a:rPr>
              <a:t>montrons</a:t>
            </a:r>
            <a:r>
              <a:rPr lang="en-US" sz="1200" b="1" dirty="0">
                <a:solidFill>
                  <a:srgbClr val="0F172A"/>
                </a:solidFill>
              </a:rPr>
              <a:t> pas </a:t>
            </a:r>
            <a:r>
              <a:rPr lang="en-US" sz="1200" b="1" dirty="0" err="1">
                <a:solidFill>
                  <a:srgbClr val="0F172A"/>
                </a:solidFill>
              </a:rPr>
              <a:t>seulement</a:t>
            </a:r>
            <a:r>
              <a:rPr lang="en-US" sz="1200" b="1" dirty="0">
                <a:solidFill>
                  <a:srgbClr val="0F172A"/>
                </a:solidFill>
              </a:rPr>
              <a:t> un </a:t>
            </a:r>
            <a:r>
              <a:rPr lang="en-US" sz="1200" b="1" dirty="0" err="1">
                <a:solidFill>
                  <a:srgbClr val="0F172A"/>
                </a:solidFill>
              </a:rPr>
              <a:t>résultat</a:t>
            </a:r>
            <a:r>
              <a:rPr lang="en-US" sz="1200" b="1" dirty="0">
                <a:solidFill>
                  <a:srgbClr val="0F172A"/>
                </a:solidFill>
              </a:rPr>
              <a:t> final, </a:t>
            </a:r>
            <a:r>
              <a:rPr lang="en-US" sz="1200" b="1" dirty="0" err="1">
                <a:solidFill>
                  <a:srgbClr val="0F172A"/>
                </a:solidFill>
              </a:rPr>
              <a:t>mais</a:t>
            </a:r>
            <a:r>
              <a:rPr lang="en-US" sz="1200" b="1" dirty="0">
                <a:solidFill>
                  <a:srgbClr val="0F172A"/>
                </a:solidFill>
              </a:rPr>
              <a:t> toute la </a:t>
            </a:r>
            <a:r>
              <a:rPr lang="en-US" sz="1200" b="1" dirty="0" err="1">
                <a:solidFill>
                  <a:srgbClr val="0F172A"/>
                </a:solidFill>
              </a:rPr>
              <a:t>logique</a:t>
            </a:r>
            <a:r>
              <a:rPr lang="en-US" sz="1200" b="1" dirty="0">
                <a:solidFill>
                  <a:srgbClr val="0F172A"/>
                </a:solidFill>
              </a:rPr>
              <a:t> </a:t>
            </a:r>
            <a:r>
              <a:rPr lang="en-US" sz="1200" b="1" dirty="0" err="1">
                <a:solidFill>
                  <a:srgbClr val="0F172A"/>
                </a:solidFill>
              </a:rPr>
              <a:t>mathématique</a:t>
            </a:r>
            <a:r>
              <a:rPr lang="en-US" sz="1200" b="1" dirty="0">
                <a:solidFill>
                  <a:srgbClr val="0F172A"/>
                </a:solidFill>
              </a:rPr>
              <a:t> et </a:t>
            </a:r>
            <a:r>
              <a:rPr lang="en-US" sz="1200" b="1" dirty="0" err="1">
                <a:solidFill>
                  <a:srgbClr val="0F172A"/>
                </a:solidFill>
              </a:rPr>
              <a:t>algorithmique</a:t>
            </a:r>
            <a:r>
              <a:rPr lang="en-US" sz="1200" b="1" dirty="0">
                <a:solidFill>
                  <a:srgbClr val="0F172A"/>
                </a:solidFill>
              </a:rPr>
              <a:t> qui y </a:t>
            </a:r>
            <a:r>
              <a:rPr lang="en-US" sz="1200" b="1" dirty="0" err="1">
                <a:solidFill>
                  <a:srgbClr val="0F172A"/>
                </a:solidFill>
              </a:rPr>
              <a:t>mène</a:t>
            </a:r>
            <a:r>
              <a:rPr lang="en-US" sz="1200" b="1" dirty="0">
                <a:solidFill>
                  <a:srgbClr val="0F172A"/>
                </a:solidFill>
              </a:rPr>
              <a:t>.</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Présenter votre jeu de données réel. Donner le nombre d’observations, les variables principales et la cible. Insister : la régression logistique ne prédit pas directement une catégorie, elle prédit une probabilité, ensuite transformée en classe.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Détailler les étapes réalisées dans le notebook. Expliquer que le prétraitement n’est pas cosmétique : il conditionne la qualité de l’entraînement. La normalisation/standardisation aide la descente de gradient à converger plus facilement.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Expliquer étape par étape : x est une ligne du dataset, w mesure l’importance des variables, b ajuste le seuil général. La sigmoïde convertit n’importe quel score réel en probabilité. Le seuil 0,5 transforme ensuite la probabilité en décision binaire.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Montrer que la sigmoïde a une forme en S. Elle écrase les valeurs très négatives vers 0 et les valeurs très positives vers 1. C’est pour cette raison qu’elle convient à une classification binaire.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Expliquer que la log-loss compare des probabilités à des vraies étiquettes 0/1. Elle pénalise fortement les prédictions très confiantes mais fausses. Mentionner le problème de log(0) et la solution np.clip/epsilon.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Présenter les principales fonctions du notebook. Montrer que la régression logistique est bien implémentée en étapes indépendantes : cela rend le code plus lisible, plus vérifiable et plus facile à expliquer.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Détailler le cycle : prédiction, erreur, gradient, mise à jour. Expliquer que le gradient indique dans quelle direction modifier les paramètres pour réduire la fonction coût. Le learning rate contrôle la taille du pas.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Expliquer que l’ensemble d’entraînement sert à apprendre, la validation à vérifier les choix comme le learning rate ou le nombre d’itérations, et le test à donner une performance finale plus honnête.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Définir chaque case : TP vrais positifs, TN vrais négatifs, FP faux positifs, FN faux négatifs. Expliquer que l’accuracy seule peut être trompeuse si les classes sont déséquilibrées, d’où précision, rappel et F1-score.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Présenter le graphique réel des coefficients. Expliquer que le signe donne le sens de l’influence et la valeur absolue donne l’importance relative. Mentionner que l’interprétation est plus fiable lorsque les variables ont été standardisées.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Insister sur les défis techniques et mathématiques. La professeure attend explicitement les défis rencontrés et les solutions apportées. Relier chaque difficulté à une action concrète dans le notebook.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présentateur :
Conclure en résumant les acquis : compréhension mathématique, implémentation en Python, évaluation, interprétation. Ouvrir sur des perspectives : tester d’autres seuils, comparer avec d’autres modèles, ajouter des variables ou étudier une régularisation.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172A"/>
          </a:solidFill>
          <a:ln w="12700">
            <a:solidFill>
              <a:srgbClr val="0F172A"/>
            </a:solidFill>
            <a:prstDash val="solid"/>
          </a:ln>
        </p:spPr>
        <p:txBody>
          <a:bodyPr/>
          <a:lstStyle/>
          <a:p>
            <a:endParaRPr lang="fr-FR"/>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8458200" y="502920"/>
            <a:ext cx="2880360" cy="2880360"/>
          </a:xfrm>
          <a:prstGeom prst="ellipse">
            <a:avLst/>
          </a:prstGeom>
          <a:solidFill>
            <a:srgbClr val="172554">
              <a:alpha val="65000"/>
            </a:srgbClr>
          </a:solidFill>
          <a:ln w="25400">
            <a:solidFill>
              <a:srgbClr val="1E3A8A">
                <a:alpha val="80000"/>
              </a:srgbClr>
            </a:solidFill>
            <a:prstDash val="solid"/>
          </a:ln>
        </p:spPr>
        <p:txBody>
          <a:bodyPr/>
          <a:lstStyle/>
          <a:p>
            <a:endParaRPr lang="fr-FR"/>
          </a:p>
        </p:txBody>
      </p:sp>
      <p:sp>
        <p:nvSpPr>
          <p:cNvPr id="3" name="Shape 1"/>
          <p:cNvSpPr/>
          <p:nvPr/>
        </p:nvSpPr>
        <p:spPr>
          <a:xfrm>
            <a:off x="9235440" y="1280160"/>
            <a:ext cx="1325880" cy="1325880"/>
          </a:xfrm>
          <a:prstGeom prst="ellipse">
            <a:avLst/>
          </a:prstGeom>
          <a:solidFill>
            <a:srgbClr val="06B6D4">
              <a:alpha val="85000"/>
            </a:srgbClr>
          </a:solidFill>
          <a:ln w="12700">
            <a:solidFill>
              <a:srgbClr val="06B6D4"/>
            </a:solidFill>
            <a:prstDash val="solid"/>
          </a:ln>
        </p:spPr>
        <p:txBody>
          <a:bodyPr/>
          <a:lstStyle/>
          <a:p>
            <a:endParaRPr lang="fr-FR"/>
          </a:p>
        </p:txBody>
      </p:sp>
      <p:sp>
        <p:nvSpPr>
          <p:cNvPr id="4" name="Shape 2"/>
          <p:cNvSpPr/>
          <p:nvPr/>
        </p:nvSpPr>
        <p:spPr>
          <a:xfrm>
            <a:off x="713232" y="621792"/>
            <a:ext cx="1645920" cy="292608"/>
          </a:xfrm>
          <a:prstGeom prst="roundRect">
            <a:avLst>
              <a:gd name="adj" fmla="val 25000"/>
            </a:avLst>
          </a:prstGeom>
          <a:solidFill>
            <a:srgbClr val="06B6D4"/>
          </a:solidFill>
          <a:ln w="12700">
            <a:solidFill>
              <a:srgbClr val="06B6D4"/>
            </a:solidFill>
            <a:prstDash val="solid"/>
          </a:ln>
        </p:spPr>
        <p:txBody>
          <a:bodyPr/>
          <a:lstStyle/>
          <a:p>
            <a:endParaRPr lang="fr-FR"/>
          </a:p>
        </p:txBody>
      </p:sp>
      <p:sp>
        <p:nvSpPr>
          <p:cNvPr id="5" name="Text 3"/>
          <p:cNvSpPr/>
          <p:nvPr/>
        </p:nvSpPr>
        <p:spPr>
          <a:xfrm>
            <a:off x="786384" y="681228"/>
            <a:ext cx="1499616" cy="137160"/>
          </a:xfrm>
          <a:prstGeom prst="rect">
            <a:avLst/>
          </a:prstGeom>
          <a:noFill/>
          <a:ln/>
        </p:spPr>
        <p:txBody>
          <a:bodyPr wrap="square" lIns="0" tIns="0" rIns="0" bIns="0" rtlCol="0" anchor="ctr"/>
          <a:lstStyle/>
          <a:p>
            <a:pPr marL="0" indent="0" algn="ctr">
              <a:buNone/>
            </a:pPr>
            <a:r>
              <a:rPr lang="en-US" sz="850" b="1" dirty="0">
                <a:solidFill>
                  <a:srgbClr val="FFFFFF"/>
                </a:solidFill>
              </a:rPr>
              <a:t>Soutenance · 10 minutes</a:t>
            </a:r>
            <a:endParaRPr lang="en-US" sz="850" dirty="0"/>
          </a:p>
        </p:txBody>
      </p:sp>
      <p:sp>
        <p:nvSpPr>
          <p:cNvPr id="6" name="Text 4"/>
          <p:cNvSpPr/>
          <p:nvPr/>
        </p:nvSpPr>
        <p:spPr>
          <a:xfrm>
            <a:off x="731520" y="1325880"/>
            <a:ext cx="7315200" cy="1143000"/>
          </a:xfrm>
          <a:prstGeom prst="rect">
            <a:avLst/>
          </a:prstGeom>
          <a:noFill/>
          <a:ln/>
        </p:spPr>
        <p:txBody>
          <a:bodyPr wrap="square" lIns="0" tIns="0" rIns="0" bIns="0" rtlCol="0" anchor="ctr"/>
          <a:lstStyle/>
          <a:p>
            <a:pPr marL="0" indent="0">
              <a:buNone/>
            </a:pPr>
            <a:r>
              <a:rPr lang="en-US" sz="3700" b="1" dirty="0">
                <a:solidFill>
                  <a:srgbClr val="FFFFFF"/>
                </a:solidFill>
                <a:latin typeface="Aptos Display" pitchFamily="34" charset="0"/>
                <a:ea typeface="Aptos Display" pitchFamily="34" charset="-122"/>
                <a:cs typeface="Aptos Display" pitchFamily="34" charset="-120"/>
              </a:rPr>
              <a:t>Implémentation d’un modèle</a:t>
            </a:r>
            <a:endParaRPr lang="en-US" sz="3700" dirty="0"/>
          </a:p>
          <a:p>
            <a:pPr marL="0" indent="0">
              <a:buNone/>
            </a:pPr>
            <a:r>
              <a:rPr lang="en-US" sz="3700" b="1" dirty="0">
                <a:solidFill>
                  <a:srgbClr val="FFFFFF"/>
                </a:solidFill>
                <a:latin typeface="Aptos Display" pitchFamily="34" charset="0"/>
                <a:ea typeface="Aptos Display" pitchFamily="34" charset="-122"/>
                <a:cs typeface="Aptos Display" pitchFamily="34" charset="-120"/>
              </a:rPr>
              <a:t>de Régression Logistique</a:t>
            </a:r>
            <a:endParaRPr lang="en-US" sz="3700" dirty="0"/>
          </a:p>
        </p:txBody>
      </p:sp>
      <p:sp>
        <p:nvSpPr>
          <p:cNvPr id="7" name="Text 5"/>
          <p:cNvSpPr/>
          <p:nvPr/>
        </p:nvSpPr>
        <p:spPr>
          <a:xfrm>
            <a:off x="749808" y="2697480"/>
            <a:ext cx="6858000" cy="320040"/>
          </a:xfrm>
          <a:prstGeom prst="rect">
            <a:avLst/>
          </a:prstGeom>
          <a:noFill/>
          <a:ln/>
        </p:spPr>
        <p:txBody>
          <a:bodyPr wrap="square" lIns="0" tIns="0" rIns="0" bIns="0" rtlCol="0" anchor="ctr"/>
          <a:lstStyle/>
          <a:p>
            <a:pPr marL="0" indent="0">
              <a:buNone/>
            </a:pPr>
            <a:r>
              <a:rPr lang="en-US" sz="1600" dirty="0">
                <a:solidFill>
                  <a:srgbClr val="D7EEF8"/>
                </a:solidFill>
              </a:rPr>
              <a:t>Projet Mathématiques–Informatique · Python · Jupyter Notebook</a:t>
            </a:r>
            <a:endParaRPr lang="en-US" sz="1600" dirty="0"/>
          </a:p>
        </p:txBody>
      </p:sp>
      <p:sp>
        <p:nvSpPr>
          <p:cNvPr id="8" name="Shape 6"/>
          <p:cNvSpPr/>
          <p:nvPr/>
        </p:nvSpPr>
        <p:spPr>
          <a:xfrm>
            <a:off x="749808" y="3154680"/>
            <a:ext cx="4206240" cy="0"/>
          </a:xfrm>
          <a:prstGeom prst="line">
            <a:avLst/>
          </a:prstGeom>
          <a:noFill/>
          <a:ln w="25400">
            <a:solidFill>
              <a:srgbClr val="06B6D4"/>
            </a:solidFill>
            <a:prstDash val="solid"/>
          </a:ln>
        </p:spPr>
        <p:txBody>
          <a:bodyPr/>
          <a:lstStyle/>
          <a:p>
            <a:endParaRPr lang="fr-FR"/>
          </a:p>
        </p:txBody>
      </p:sp>
      <p:sp>
        <p:nvSpPr>
          <p:cNvPr id="9" name="Text 7"/>
          <p:cNvSpPr/>
          <p:nvPr/>
        </p:nvSpPr>
        <p:spPr>
          <a:xfrm>
            <a:off x="739648" y="3530599"/>
            <a:ext cx="5955792" cy="2011675"/>
          </a:xfrm>
          <a:prstGeom prst="rect">
            <a:avLst/>
          </a:prstGeom>
          <a:noFill/>
          <a:ln/>
        </p:spPr>
        <p:txBody>
          <a:bodyPr wrap="square" lIns="0" tIns="0" rIns="0" bIns="0" rtlCol="0" anchor="ctr"/>
          <a:lstStyle/>
          <a:p>
            <a:pPr marL="0" indent="0">
              <a:buNone/>
            </a:pPr>
            <a:r>
              <a:rPr lang="en-US" sz="1400" b="1" dirty="0">
                <a:solidFill>
                  <a:srgbClr val="E2E8F0"/>
                </a:solidFill>
              </a:rPr>
              <a:t>Université Aix-Marseille</a:t>
            </a:r>
            <a:endParaRPr lang="en-US" sz="1400" b="1" dirty="0"/>
          </a:p>
          <a:p>
            <a:pPr marL="0" indent="0">
              <a:buNone/>
            </a:pPr>
            <a:r>
              <a:rPr lang="en-US" sz="1400" b="1" dirty="0" err="1">
                <a:solidFill>
                  <a:srgbClr val="E2E8F0"/>
                </a:solidFill>
              </a:rPr>
              <a:t>Enseignante</a:t>
            </a:r>
            <a:r>
              <a:rPr lang="en-US" sz="1400" dirty="0">
                <a:solidFill>
                  <a:srgbClr val="E2E8F0"/>
                </a:solidFill>
              </a:rPr>
              <a:t> : Raquel Urena</a:t>
            </a:r>
            <a:endParaRPr lang="en-US" sz="1400" dirty="0"/>
          </a:p>
          <a:p>
            <a:r>
              <a:rPr lang="en-US" sz="1400" b="1" dirty="0">
                <a:solidFill>
                  <a:srgbClr val="E2E8F0"/>
                </a:solidFill>
              </a:rPr>
              <a:t>Équipe</a:t>
            </a:r>
            <a:r>
              <a:rPr lang="en-US" sz="1400" dirty="0">
                <a:solidFill>
                  <a:srgbClr val="E2E8F0"/>
                </a:solidFill>
              </a:rPr>
              <a:t> : </a:t>
            </a:r>
            <a:br>
              <a:rPr lang="en-US" sz="1400" dirty="0">
                <a:solidFill>
                  <a:srgbClr val="E2E8F0"/>
                </a:solidFill>
              </a:rPr>
            </a:br>
            <a:br>
              <a:rPr lang="en-US" sz="1400" dirty="0">
                <a:solidFill>
                  <a:srgbClr val="E2E8F0"/>
                </a:solidFill>
              </a:rPr>
            </a:br>
            <a:r>
              <a:rPr lang="en-US" sz="1400" b="1" dirty="0">
                <a:solidFill>
                  <a:srgbClr val="E2E8F0"/>
                </a:solidFill>
              </a:rPr>
              <a:t>Katia Alili </a:t>
            </a:r>
            <a:r>
              <a:rPr lang="en-US" sz="1400" dirty="0">
                <a:solidFill>
                  <a:srgbClr val="E2E8F0"/>
                </a:solidFill>
              </a:rPr>
              <a:t>: @</a:t>
            </a:r>
            <a:r>
              <a:rPr lang="en-US" sz="1400" dirty="0" err="1">
                <a:solidFill>
                  <a:srgbClr val="E2E8F0"/>
                </a:solidFill>
              </a:rPr>
              <a:t>artshleyy</a:t>
            </a:r>
            <a:endParaRPr lang="en-US" sz="1400" dirty="0">
              <a:solidFill>
                <a:srgbClr val="E2E8F0"/>
              </a:solidFill>
            </a:endParaRPr>
          </a:p>
          <a:p>
            <a:r>
              <a:rPr lang="en-US" sz="1400" b="1" dirty="0">
                <a:solidFill>
                  <a:srgbClr val="E2E8F0"/>
                </a:solidFill>
              </a:rPr>
              <a:t>Alex </a:t>
            </a:r>
            <a:r>
              <a:rPr lang="en-US" sz="1400" b="1" dirty="0" err="1">
                <a:solidFill>
                  <a:srgbClr val="E2E8F0"/>
                </a:solidFill>
              </a:rPr>
              <a:t>Ayivi</a:t>
            </a:r>
            <a:r>
              <a:rPr lang="en-US" sz="1400" b="1" dirty="0">
                <a:solidFill>
                  <a:srgbClr val="E2E8F0"/>
                </a:solidFill>
              </a:rPr>
              <a:t> </a:t>
            </a:r>
            <a:r>
              <a:rPr lang="en-US" sz="1400" dirty="0">
                <a:solidFill>
                  <a:srgbClr val="E2E8F0"/>
                </a:solidFill>
              </a:rPr>
              <a:t>: @A </a:t>
            </a:r>
            <a:r>
              <a:rPr lang="en-US" sz="1400" dirty="0" err="1">
                <a:solidFill>
                  <a:srgbClr val="E2E8F0"/>
                </a:solidFill>
              </a:rPr>
              <a:t>YIVIAlex</a:t>
            </a:r>
            <a:endParaRPr lang="en-US" sz="1400" dirty="0">
              <a:solidFill>
                <a:srgbClr val="E2E8F0"/>
              </a:solidFill>
            </a:endParaRPr>
          </a:p>
          <a:p>
            <a:r>
              <a:rPr lang="en-US" sz="1400" b="1" dirty="0">
                <a:solidFill>
                  <a:srgbClr val="E2E8F0"/>
                </a:solidFill>
              </a:rPr>
              <a:t>Hawa Konta </a:t>
            </a:r>
            <a:r>
              <a:rPr lang="en-US" sz="1400" dirty="0">
                <a:solidFill>
                  <a:srgbClr val="E2E8F0"/>
                </a:solidFill>
              </a:rPr>
              <a:t>: @</a:t>
            </a:r>
            <a:r>
              <a:rPr lang="en-US" sz="1400" dirty="0" err="1">
                <a:solidFill>
                  <a:srgbClr val="E2E8F0"/>
                </a:solidFill>
              </a:rPr>
              <a:t>lolipopiz</a:t>
            </a:r>
            <a:endParaRPr lang="en-US" sz="1400" dirty="0">
              <a:solidFill>
                <a:srgbClr val="E2E8F0"/>
              </a:solidFill>
            </a:endParaRPr>
          </a:p>
          <a:p>
            <a:r>
              <a:rPr lang="en-US" sz="1400" b="1" dirty="0">
                <a:solidFill>
                  <a:srgbClr val="E2E8F0"/>
                </a:solidFill>
              </a:rPr>
              <a:t>Kenza Benmansour </a:t>
            </a:r>
            <a:r>
              <a:rPr lang="en-US" sz="1400" dirty="0">
                <a:solidFill>
                  <a:srgbClr val="E2E8F0"/>
                </a:solidFill>
              </a:rPr>
              <a:t>: @</a:t>
            </a:r>
            <a:r>
              <a:rPr lang="en-US" sz="1400" dirty="0" err="1">
                <a:solidFill>
                  <a:srgbClr val="E2E8F0"/>
                </a:solidFill>
              </a:rPr>
              <a:t>kenzalittlegenius</a:t>
            </a:r>
            <a:endParaRPr lang="en-US" sz="1400" dirty="0">
              <a:solidFill>
                <a:srgbClr val="E2E8F0"/>
              </a:solidFill>
            </a:endParaRPr>
          </a:p>
          <a:p>
            <a:endParaRPr lang="en-US" sz="1400" dirty="0"/>
          </a:p>
        </p:txBody>
      </p:sp>
      <p:sp>
        <p:nvSpPr>
          <p:cNvPr id="10" name="Shape 8"/>
          <p:cNvSpPr/>
          <p:nvPr/>
        </p:nvSpPr>
        <p:spPr>
          <a:xfrm>
            <a:off x="7680960" y="4160520"/>
            <a:ext cx="3474720" cy="1051560"/>
          </a:xfrm>
          <a:prstGeom prst="roundRect">
            <a:avLst/>
          </a:prstGeom>
          <a:solidFill>
            <a:srgbClr val="172554">
              <a:alpha val="90000"/>
            </a:srgbClr>
          </a:solidFill>
          <a:ln w="12700">
            <a:solidFill>
              <a:srgbClr val="38BDF8"/>
            </a:solidFill>
            <a:prstDash val="solid"/>
          </a:ln>
        </p:spPr>
        <p:txBody>
          <a:bodyPr/>
          <a:lstStyle/>
          <a:p>
            <a:endParaRPr lang="fr-FR"/>
          </a:p>
        </p:txBody>
      </p:sp>
      <p:sp>
        <p:nvSpPr>
          <p:cNvPr id="11" name="Text 9"/>
          <p:cNvSpPr/>
          <p:nvPr/>
        </p:nvSpPr>
        <p:spPr>
          <a:xfrm>
            <a:off x="7909560" y="4343400"/>
            <a:ext cx="2926080" cy="228600"/>
          </a:xfrm>
          <a:prstGeom prst="rect">
            <a:avLst/>
          </a:prstGeom>
          <a:noFill/>
          <a:ln/>
        </p:spPr>
        <p:txBody>
          <a:bodyPr wrap="square" lIns="0" tIns="0" rIns="0" bIns="0" rtlCol="0" anchor="ctr"/>
          <a:lstStyle/>
          <a:p>
            <a:pPr marL="0" indent="0">
              <a:buNone/>
            </a:pPr>
            <a:r>
              <a:rPr lang="en-US" sz="1200" b="1" dirty="0">
                <a:solidFill>
                  <a:srgbClr val="06B6D4"/>
                </a:solidFill>
              </a:rPr>
              <a:t>Idée centrale</a:t>
            </a:r>
            <a:endParaRPr lang="en-US" sz="1200" dirty="0"/>
          </a:p>
        </p:txBody>
      </p:sp>
      <p:sp>
        <p:nvSpPr>
          <p:cNvPr id="12" name="Text 10"/>
          <p:cNvSpPr/>
          <p:nvPr/>
        </p:nvSpPr>
        <p:spPr>
          <a:xfrm>
            <a:off x="7909560" y="4645152"/>
            <a:ext cx="2926080" cy="347472"/>
          </a:xfrm>
          <a:prstGeom prst="rect">
            <a:avLst/>
          </a:prstGeom>
          <a:noFill/>
          <a:ln/>
        </p:spPr>
        <p:txBody>
          <a:bodyPr wrap="square" lIns="0" tIns="0" rIns="0" bIns="0" rtlCol="0" anchor="ctr">
            <a:normAutofit fontScale="92500"/>
          </a:bodyPr>
          <a:lstStyle/>
          <a:p>
            <a:pPr marL="0" indent="0">
              <a:buNone/>
            </a:pPr>
            <a:r>
              <a:rPr lang="en-US" sz="1080" dirty="0">
                <a:solidFill>
                  <a:srgbClr val="FFFFFF"/>
                </a:solidFill>
              </a:rPr>
              <a:t>Transformer une combinaison linéaire en probabilité, puis apprendre les meilleurs paramètres.</a:t>
            </a:r>
            <a:endParaRPr lang="en-US" sz="108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Attentes du projet</a:t>
            </a:r>
            <a:endParaRPr lang="en-US" sz="2500" dirty="0"/>
          </a:p>
        </p:txBody>
      </p:sp>
      <p:sp>
        <p:nvSpPr>
          <p:cNvPr id="3" name="Text 1"/>
          <p:cNvSpPr/>
          <p:nvPr/>
        </p:nvSpPr>
        <p:spPr>
          <a:xfrm>
            <a:off x="622840" y="1050796"/>
            <a:ext cx="10867120" cy="1014218"/>
          </a:xfrm>
          <a:prstGeom prst="rect">
            <a:avLst/>
          </a:prstGeom>
          <a:noFill/>
          <a:ln/>
        </p:spPr>
        <p:txBody>
          <a:bodyPr wrap="square" lIns="0" tIns="0" rIns="0" bIns="0" rtlCol="0" anchor="ctr"/>
          <a:lstStyle/>
          <a:p>
            <a:pPr marL="0" indent="0">
              <a:buNone/>
            </a:pPr>
            <a:r>
              <a:rPr lang="en-US" sz="1200" dirty="0" err="1"/>
              <a:t>Implémenter</a:t>
            </a:r>
            <a:r>
              <a:rPr lang="en-US" sz="1200" dirty="0"/>
              <a:t> </a:t>
            </a:r>
            <a:r>
              <a:rPr lang="en-US" sz="1200" dirty="0" err="1"/>
              <a:t>depuis</a:t>
            </a:r>
            <a:r>
              <a:rPr lang="en-US" sz="1200" dirty="0"/>
              <a:t> </a:t>
            </a:r>
            <a:r>
              <a:rPr lang="en-US" sz="1200" dirty="0" err="1"/>
              <a:t>zéro</a:t>
            </a:r>
            <a:r>
              <a:rPr lang="en-US" sz="1200" dirty="0"/>
              <a:t> un </a:t>
            </a:r>
            <a:r>
              <a:rPr lang="en-US" sz="1200" dirty="0" err="1"/>
              <a:t>modèle</a:t>
            </a:r>
            <a:r>
              <a:rPr lang="en-US" sz="1200" dirty="0"/>
              <a:t> de </a:t>
            </a:r>
            <a:r>
              <a:rPr lang="en-US" sz="1200" dirty="0" err="1"/>
              <a:t>régression</a:t>
            </a:r>
            <a:r>
              <a:rPr lang="en-US" sz="1200" dirty="0"/>
              <a:t> </a:t>
            </a:r>
            <a:r>
              <a:rPr lang="en-US" sz="1200" dirty="0" err="1"/>
              <a:t>logistique</a:t>
            </a:r>
            <a:r>
              <a:rPr lang="en-US" sz="1200" dirty="0"/>
              <a:t> pour un </a:t>
            </a:r>
            <a:r>
              <a:rPr lang="en-US" sz="1200" dirty="0" err="1"/>
              <a:t>problème</a:t>
            </a:r>
            <a:r>
              <a:rPr lang="en-US" sz="1200" dirty="0"/>
              <a:t> de classification </a:t>
            </a:r>
            <a:r>
              <a:rPr lang="en-US" sz="1200" dirty="0" err="1"/>
              <a:t>binaire</a:t>
            </a:r>
            <a:r>
              <a:rPr lang="en-US" sz="1200" dirty="0"/>
              <a:t>. </a:t>
            </a:r>
            <a:r>
              <a:rPr lang="en-US" sz="1200" dirty="0" err="1"/>
              <a:t>Aucune</a:t>
            </a:r>
            <a:r>
              <a:rPr lang="en-US" sz="1200" dirty="0"/>
              <a:t> bibliothèque de machine learning ne doit </a:t>
            </a:r>
            <a:r>
              <a:rPr lang="en-US" sz="1200" dirty="0" err="1"/>
              <a:t>être</a:t>
            </a:r>
            <a:r>
              <a:rPr lang="en-US" sz="1200" dirty="0"/>
              <a:t> </a:t>
            </a:r>
            <a:r>
              <a:rPr lang="en-US" sz="1200" dirty="0" err="1"/>
              <a:t>utilisée</a:t>
            </a:r>
            <a:r>
              <a:rPr lang="en-US" sz="1200" dirty="0"/>
              <a:t> (pas de scikit-learn, </a:t>
            </a:r>
            <a:r>
              <a:rPr lang="en-US" sz="1200" dirty="0" err="1"/>
              <a:t>tensorflow</a:t>
            </a:r>
            <a:r>
              <a:rPr lang="en-US" sz="1200" dirty="0"/>
              <a:t>, etc.). </a:t>
            </a:r>
          </a:p>
          <a:p>
            <a:pPr marL="0" indent="0">
              <a:buNone/>
            </a:pPr>
            <a:r>
              <a:rPr lang="en-US" sz="1200" dirty="0"/>
              <a:t>• coder </a:t>
            </a:r>
            <a:r>
              <a:rPr lang="en-US" sz="1200" dirty="0" err="1"/>
              <a:t>manuellement</a:t>
            </a:r>
            <a:r>
              <a:rPr lang="en-US" sz="1200" dirty="0"/>
              <a:t> </a:t>
            </a:r>
            <a:r>
              <a:rPr lang="en-US" sz="1200" dirty="0" err="1"/>
              <a:t>l’algorithme</a:t>
            </a:r>
            <a:r>
              <a:rPr lang="en-US" sz="1200" dirty="0"/>
              <a:t> </a:t>
            </a:r>
            <a:r>
              <a:rPr lang="en-US" sz="1200" dirty="0" err="1"/>
              <a:t>d’entraînement</a:t>
            </a:r>
            <a:r>
              <a:rPr lang="en-US" sz="1200" dirty="0"/>
              <a:t> (</a:t>
            </a:r>
            <a:r>
              <a:rPr lang="en-US" sz="1200" dirty="0" err="1"/>
              <a:t>descente</a:t>
            </a:r>
            <a:r>
              <a:rPr lang="en-US" sz="1200" dirty="0"/>
              <a:t> de gradient)</a:t>
            </a:r>
          </a:p>
          <a:p>
            <a:pPr marL="0" indent="0">
              <a:buNone/>
            </a:pPr>
            <a:r>
              <a:rPr lang="en-US" sz="1200" dirty="0"/>
              <a:t>• tester le </a:t>
            </a:r>
            <a:r>
              <a:rPr lang="en-US" sz="1200" dirty="0" err="1"/>
              <a:t>modèle</a:t>
            </a:r>
            <a:r>
              <a:rPr lang="en-US" sz="1200" dirty="0"/>
              <a:t> sur un </a:t>
            </a:r>
            <a:r>
              <a:rPr lang="en-US" sz="1200" dirty="0" err="1"/>
              <a:t>cas</a:t>
            </a:r>
            <a:r>
              <a:rPr lang="en-US" sz="1200" dirty="0"/>
              <a:t> </a:t>
            </a:r>
            <a:r>
              <a:rPr lang="en-US" sz="1200" dirty="0" err="1"/>
              <a:t>réel</a:t>
            </a:r>
            <a:r>
              <a:rPr lang="en-US" sz="1200" dirty="0"/>
              <a:t> simple, </a:t>
            </a:r>
          </a:p>
          <a:p>
            <a:pPr marL="0" indent="0">
              <a:buNone/>
            </a:pPr>
            <a:r>
              <a:rPr lang="en-US" sz="1200" dirty="0"/>
              <a:t>• </a:t>
            </a:r>
            <a:r>
              <a:rPr lang="en-US" sz="1200" dirty="0" err="1"/>
              <a:t>évaluer</a:t>
            </a:r>
            <a:r>
              <a:rPr lang="en-US" sz="1200" dirty="0"/>
              <a:t> </a:t>
            </a:r>
            <a:r>
              <a:rPr lang="en-US" sz="1200" dirty="0" err="1"/>
              <a:t>sa</a:t>
            </a:r>
            <a:r>
              <a:rPr lang="en-US" sz="1200" dirty="0"/>
              <a:t> performance, </a:t>
            </a:r>
          </a:p>
          <a:p>
            <a:pPr marL="0" indent="0">
              <a:buNone/>
            </a:pPr>
            <a:r>
              <a:rPr lang="en-US" sz="1200" dirty="0"/>
              <a:t>• </a:t>
            </a:r>
            <a:r>
              <a:rPr lang="en-US" sz="1200" dirty="0" err="1"/>
              <a:t>interpréter</a:t>
            </a:r>
            <a:r>
              <a:rPr lang="en-US" sz="1200" dirty="0"/>
              <a:t> les coefficients du </a:t>
            </a:r>
            <a:r>
              <a:rPr lang="en-US" sz="1200" dirty="0" err="1"/>
              <a:t>modèle</a:t>
            </a:r>
            <a:r>
              <a:rPr lang="en-US" sz="1200" dirty="0"/>
              <a:t> pour identifier les variables les plus </a:t>
            </a:r>
            <a:r>
              <a:rPr lang="en-US" sz="1200" dirty="0" err="1"/>
              <a:t>influentes</a:t>
            </a:r>
            <a:r>
              <a:rPr lang="en-US" sz="1200" dirty="0"/>
              <a:t>.</a:t>
            </a:r>
          </a:p>
        </p:txBody>
      </p:sp>
      <p:sp>
        <p:nvSpPr>
          <p:cNvPr id="4" name="Shape 2"/>
          <p:cNvSpPr/>
          <p:nvPr/>
        </p:nvSpPr>
        <p:spPr>
          <a:xfrm>
            <a:off x="485680" y="731520"/>
            <a:ext cx="10972800" cy="0"/>
          </a:xfrm>
          <a:prstGeom prst="line">
            <a:avLst/>
          </a:prstGeom>
          <a:noFill/>
          <a:ln w="10160">
            <a:solidFill>
              <a:srgbClr val="CBD5E1"/>
            </a:solidFill>
            <a:prstDash val="solid"/>
          </a:ln>
        </p:spPr>
        <p:txBody>
          <a:bodyPr/>
          <a:lstStyle/>
          <a:p>
            <a:endParaRPr lang="fr-FR" dirty="0"/>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Shape 4"/>
          <p:cNvSpPr/>
          <p:nvPr/>
        </p:nvSpPr>
        <p:spPr>
          <a:xfrm>
            <a:off x="668560" y="2416549"/>
            <a:ext cx="3291840" cy="1143000"/>
          </a:xfrm>
          <a:prstGeom prst="roundRect">
            <a:avLst>
              <a:gd name="adj" fmla="val 6400"/>
            </a:avLst>
          </a:prstGeom>
          <a:solidFill>
            <a:srgbClr val="DBEAFE"/>
          </a:solidFill>
          <a:ln w="12700">
            <a:solidFill>
              <a:srgbClr val="1D4ED8"/>
            </a:solidFill>
            <a:prstDash val="solid"/>
          </a:ln>
        </p:spPr>
        <p:txBody>
          <a:bodyPr/>
          <a:lstStyle/>
          <a:p>
            <a:endParaRPr lang="fr-FR" dirty="0"/>
          </a:p>
        </p:txBody>
      </p:sp>
      <p:sp>
        <p:nvSpPr>
          <p:cNvPr id="7" name="Text 5"/>
          <p:cNvSpPr/>
          <p:nvPr/>
        </p:nvSpPr>
        <p:spPr>
          <a:xfrm>
            <a:off x="833152" y="2551677"/>
            <a:ext cx="2962656" cy="228600"/>
          </a:xfrm>
          <a:prstGeom prst="rect">
            <a:avLst/>
          </a:prstGeom>
          <a:noFill/>
          <a:ln/>
        </p:spPr>
        <p:txBody>
          <a:bodyPr wrap="square" lIns="0" tIns="0" rIns="0" bIns="0" rtlCol="0" anchor="ctr"/>
          <a:lstStyle/>
          <a:p>
            <a:pPr marL="0" indent="0">
              <a:buNone/>
            </a:pPr>
            <a:r>
              <a:rPr lang="en-US" sz="1200" b="1" dirty="0">
                <a:solidFill>
                  <a:srgbClr val="0F172A"/>
                </a:solidFill>
              </a:rPr>
              <a:t>Implémentation depuis zéro</a:t>
            </a:r>
            <a:endParaRPr lang="en-US" sz="1200" dirty="0"/>
          </a:p>
        </p:txBody>
      </p:sp>
      <p:sp>
        <p:nvSpPr>
          <p:cNvPr id="8" name="Text 6"/>
          <p:cNvSpPr/>
          <p:nvPr/>
        </p:nvSpPr>
        <p:spPr>
          <a:xfrm>
            <a:off x="833152" y="2880861"/>
            <a:ext cx="2962656" cy="548640"/>
          </a:xfrm>
          <a:prstGeom prst="rect">
            <a:avLst/>
          </a:prstGeom>
          <a:noFill/>
          <a:ln/>
        </p:spPr>
        <p:txBody>
          <a:bodyPr wrap="square" lIns="254" tIns="254" rIns="254" bIns="254" rtlCol="0" anchor="ctr">
            <a:noAutofit/>
          </a:bodyPr>
          <a:lstStyle/>
          <a:p>
            <a:pPr marL="0" indent="0">
              <a:buNone/>
            </a:pPr>
            <a:r>
              <a:rPr lang="en-US" sz="1100" dirty="0">
                <a:solidFill>
                  <a:srgbClr val="475569"/>
                </a:solidFill>
              </a:rPr>
              <a:t>Pas de bibliothèque de Machine Learning : les fonctions essentielles sont codées manuellement.</a:t>
            </a:r>
            <a:endParaRPr lang="en-US" sz="1100" dirty="0"/>
          </a:p>
        </p:txBody>
      </p:sp>
      <p:sp>
        <p:nvSpPr>
          <p:cNvPr id="9" name="Shape 7"/>
          <p:cNvSpPr/>
          <p:nvPr/>
        </p:nvSpPr>
        <p:spPr>
          <a:xfrm>
            <a:off x="4417600" y="2416549"/>
            <a:ext cx="3291840" cy="1143000"/>
          </a:xfrm>
          <a:prstGeom prst="roundRect">
            <a:avLst>
              <a:gd name="adj" fmla="val 6400"/>
            </a:avLst>
          </a:prstGeom>
          <a:solidFill>
            <a:srgbClr val="CFFAFE"/>
          </a:solidFill>
          <a:ln w="12700">
            <a:solidFill>
              <a:srgbClr val="06B6D4"/>
            </a:solidFill>
            <a:prstDash val="solid"/>
          </a:ln>
        </p:spPr>
        <p:txBody>
          <a:bodyPr/>
          <a:lstStyle/>
          <a:p>
            <a:endParaRPr lang="fr-FR" dirty="0"/>
          </a:p>
        </p:txBody>
      </p:sp>
      <p:sp>
        <p:nvSpPr>
          <p:cNvPr id="10" name="Text 8"/>
          <p:cNvSpPr/>
          <p:nvPr/>
        </p:nvSpPr>
        <p:spPr>
          <a:xfrm>
            <a:off x="4582192" y="2551677"/>
            <a:ext cx="2962656" cy="228600"/>
          </a:xfrm>
          <a:prstGeom prst="rect">
            <a:avLst/>
          </a:prstGeom>
          <a:noFill/>
          <a:ln/>
        </p:spPr>
        <p:txBody>
          <a:bodyPr wrap="square" lIns="0" tIns="0" rIns="0" bIns="0" rtlCol="0" anchor="ctr"/>
          <a:lstStyle/>
          <a:p>
            <a:pPr marL="0" indent="0">
              <a:buNone/>
            </a:pPr>
            <a:r>
              <a:rPr lang="en-US" sz="1200" b="1" dirty="0">
                <a:solidFill>
                  <a:srgbClr val="0F172A"/>
                </a:solidFill>
              </a:rPr>
              <a:t>Entraînement</a:t>
            </a:r>
            <a:endParaRPr lang="en-US" sz="1200" dirty="0"/>
          </a:p>
        </p:txBody>
      </p:sp>
      <p:sp>
        <p:nvSpPr>
          <p:cNvPr id="11" name="Text 9"/>
          <p:cNvSpPr/>
          <p:nvPr/>
        </p:nvSpPr>
        <p:spPr>
          <a:xfrm>
            <a:off x="4582192" y="2880861"/>
            <a:ext cx="2962656" cy="548640"/>
          </a:xfrm>
          <a:prstGeom prst="rect">
            <a:avLst/>
          </a:prstGeom>
          <a:noFill/>
          <a:ln/>
        </p:spPr>
        <p:txBody>
          <a:bodyPr wrap="square" lIns="254" tIns="254" rIns="254" bIns="254" rtlCol="0" anchor="ctr">
            <a:normAutofit/>
          </a:bodyPr>
          <a:lstStyle/>
          <a:p>
            <a:pPr marL="0" indent="0">
              <a:buNone/>
            </a:pPr>
            <a:r>
              <a:rPr lang="en-US" sz="1100" dirty="0">
                <a:solidFill>
                  <a:srgbClr val="475569"/>
                </a:solidFill>
              </a:rPr>
              <a:t>Apprentissage des paramètres w et b grâce à la descente de gradient.</a:t>
            </a:r>
            <a:endParaRPr lang="en-US" sz="1100" dirty="0"/>
          </a:p>
        </p:txBody>
      </p:sp>
      <p:sp>
        <p:nvSpPr>
          <p:cNvPr id="12" name="Shape 10"/>
          <p:cNvSpPr/>
          <p:nvPr/>
        </p:nvSpPr>
        <p:spPr>
          <a:xfrm>
            <a:off x="8166640" y="2416549"/>
            <a:ext cx="3291840" cy="1143000"/>
          </a:xfrm>
          <a:prstGeom prst="roundRect">
            <a:avLst>
              <a:gd name="adj" fmla="val 6400"/>
            </a:avLst>
          </a:prstGeom>
          <a:solidFill>
            <a:srgbClr val="DCFCE7"/>
          </a:solidFill>
          <a:ln w="12700">
            <a:solidFill>
              <a:srgbClr val="10B981"/>
            </a:solidFill>
            <a:prstDash val="solid"/>
          </a:ln>
        </p:spPr>
        <p:txBody>
          <a:bodyPr/>
          <a:lstStyle/>
          <a:p>
            <a:endParaRPr lang="fr-FR"/>
          </a:p>
        </p:txBody>
      </p:sp>
      <p:sp>
        <p:nvSpPr>
          <p:cNvPr id="13" name="Text 11"/>
          <p:cNvSpPr/>
          <p:nvPr/>
        </p:nvSpPr>
        <p:spPr>
          <a:xfrm>
            <a:off x="8331232" y="2551677"/>
            <a:ext cx="2962656" cy="228600"/>
          </a:xfrm>
          <a:prstGeom prst="rect">
            <a:avLst/>
          </a:prstGeom>
          <a:noFill/>
          <a:ln/>
        </p:spPr>
        <p:txBody>
          <a:bodyPr wrap="square" lIns="0" tIns="0" rIns="0" bIns="0" rtlCol="0" anchor="ctr"/>
          <a:lstStyle/>
          <a:p>
            <a:pPr marL="0" indent="0">
              <a:buNone/>
            </a:pPr>
            <a:r>
              <a:rPr lang="en-US" sz="1200" b="1" dirty="0">
                <a:solidFill>
                  <a:srgbClr val="0F172A"/>
                </a:solidFill>
              </a:rPr>
              <a:t>Évaluation</a:t>
            </a:r>
            <a:endParaRPr lang="en-US" sz="1200" dirty="0"/>
          </a:p>
        </p:txBody>
      </p:sp>
      <p:sp>
        <p:nvSpPr>
          <p:cNvPr id="14" name="Text 12"/>
          <p:cNvSpPr/>
          <p:nvPr/>
        </p:nvSpPr>
        <p:spPr>
          <a:xfrm>
            <a:off x="8331232" y="2880861"/>
            <a:ext cx="2962656" cy="548640"/>
          </a:xfrm>
          <a:prstGeom prst="rect">
            <a:avLst/>
          </a:prstGeom>
          <a:noFill/>
          <a:ln/>
        </p:spPr>
        <p:txBody>
          <a:bodyPr wrap="square" lIns="254" tIns="254" rIns="254" bIns="254" rtlCol="0" anchor="ctr">
            <a:normAutofit/>
          </a:bodyPr>
          <a:lstStyle/>
          <a:p>
            <a:pPr marL="0" indent="0">
              <a:buNone/>
            </a:pPr>
            <a:r>
              <a:rPr lang="en-US" sz="1100" dirty="0">
                <a:solidFill>
                  <a:srgbClr val="475569"/>
                </a:solidFill>
              </a:rPr>
              <a:t>Mesures : matrice de confusion, accuracy, précision, rappel et F1-score.</a:t>
            </a:r>
            <a:endParaRPr lang="en-US" sz="1100" dirty="0"/>
          </a:p>
        </p:txBody>
      </p:sp>
      <p:sp>
        <p:nvSpPr>
          <p:cNvPr id="15" name="Text 13"/>
          <p:cNvSpPr/>
          <p:nvPr/>
        </p:nvSpPr>
        <p:spPr>
          <a:xfrm>
            <a:off x="608600" y="3915671"/>
            <a:ext cx="5120640" cy="274320"/>
          </a:xfrm>
          <a:prstGeom prst="rect">
            <a:avLst/>
          </a:prstGeom>
          <a:noFill/>
          <a:ln/>
        </p:spPr>
        <p:txBody>
          <a:bodyPr wrap="square" lIns="0" tIns="0" rIns="0" bIns="0" rtlCol="0" anchor="ctr"/>
          <a:lstStyle/>
          <a:p>
            <a:pPr marL="0" indent="0">
              <a:buNone/>
            </a:pPr>
            <a:r>
              <a:rPr lang="en-US" sz="1800" b="1" dirty="0">
                <a:solidFill>
                  <a:srgbClr val="0F172A"/>
                </a:solidFill>
              </a:rPr>
              <a:t>Fil </a:t>
            </a:r>
            <a:r>
              <a:rPr lang="en-US" sz="1800" b="1" dirty="0" err="1">
                <a:solidFill>
                  <a:srgbClr val="0F172A"/>
                </a:solidFill>
              </a:rPr>
              <a:t>conducteur</a:t>
            </a:r>
            <a:r>
              <a:rPr lang="en-US" sz="1800" b="1" dirty="0">
                <a:solidFill>
                  <a:srgbClr val="0F172A"/>
                </a:solidFill>
              </a:rPr>
              <a:t> du </a:t>
            </a:r>
            <a:r>
              <a:rPr lang="en-US" sz="1800" b="1" dirty="0" err="1">
                <a:solidFill>
                  <a:srgbClr val="0F172A"/>
                </a:solidFill>
              </a:rPr>
              <a:t>projet</a:t>
            </a:r>
            <a:r>
              <a:rPr lang="en-US" sz="1800" b="1" dirty="0">
                <a:solidFill>
                  <a:srgbClr val="0F172A"/>
                </a:solidFill>
              </a:rPr>
              <a:t> : </a:t>
            </a:r>
            <a:endParaRPr lang="en-US" sz="1800" dirty="0"/>
          </a:p>
        </p:txBody>
      </p:sp>
      <p:sp>
        <p:nvSpPr>
          <p:cNvPr id="16" name="Shape 14"/>
          <p:cNvSpPr/>
          <p:nvPr/>
        </p:nvSpPr>
        <p:spPr>
          <a:xfrm>
            <a:off x="851440" y="4856743"/>
            <a:ext cx="347472" cy="347472"/>
          </a:xfrm>
          <a:prstGeom prst="ellipse">
            <a:avLst/>
          </a:prstGeom>
          <a:solidFill>
            <a:srgbClr val="1D4ED8"/>
          </a:solidFill>
          <a:ln w="12700">
            <a:solidFill>
              <a:srgbClr val="1D4ED8"/>
            </a:solidFill>
            <a:prstDash val="solid"/>
          </a:ln>
        </p:spPr>
        <p:txBody>
          <a:bodyPr/>
          <a:lstStyle/>
          <a:p>
            <a:endParaRPr lang="fr-FR" sz="1050"/>
          </a:p>
        </p:txBody>
      </p:sp>
      <p:sp>
        <p:nvSpPr>
          <p:cNvPr id="17" name="Text 15"/>
          <p:cNvSpPr/>
          <p:nvPr/>
        </p:nvSpPr>
        <p:spPr>
          <a:xfrm>
            <a:off x="851440" y="4925323"/>
            <a:ext cx="347472" cy="109728"/>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18" name="Text 16"/>
          <p:cNvSpPr/>
          <p:nvPr/>
        </p:nvSpPr>
        <p:spPr>
          <a:xfrm>
            <a:off x="622840" y="5313943"/>
            <a:ext cx="822960" cy="320040"/>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Données</a:t>
            </a:r>
            <a:endParaRPr lang="en-US" sz="1050" dirty="0"/>
          </a:p>
        </p:txBody>
      </p:sp>
      <p:sp>
        <p:nvSpPr>
          <p:cNvPr id="19" name="Shape 17"/>
          <p:cNvSpPr/>
          <p:nvPr/>
        </p:nvSpPr>
        <p:spPr>
          <a:xfrm>
            <a:off x="1235488" y="5030479"/>
            <a:ext cx="822960" cy="0"/>
          </a:xfrm>
          <a:prstGeom prst="line">
            <a:avLst/>
          </a:prstGeom>
          <a:noFill/>
          <a:ln w="25400">
            <a:solidFill>
              <a:srgbClr val="CBD5E1"/>
            </a:solidFill>
            <a:prstDash val="solid"/>
            <a:headEnd type="none"/>
            <a:tailEnd type="triangle"/>
          </a:ln>
        </p:spPr>
        <p:txBody>
          <a:bodyPr/>
          <a:lstStyle/>
          <a:p>
            <a:endParaRPr lang="fr-FR" sz="1050"/>
          </a:p>
        </p:txBody>
      </p:sp>
      <p:sp>
        <p:nvSpPr>
          <p:cNvPr id="20" name="Shape 18"/>
          <p:cNvSpPr/>
          <p:nvPr/>
        </p:nvSpPr>
        <p:spPr>
          <a:xfrm>
            <a:off x="2131600" y="4856743"/>
            <a:ext cx="347472" cy="347472"/>
          </a:xfrm>
          <a:prstGeom prst="ellipse">
            <a:avLst/>
          </a:prstGeom>
          <a:solidFill>
            <a:srgbClr val="06B6D4"/>
          </a:solidFill>
          <a:ln w="12700">
            <a:solidFill>
              <a:srgbClr val="06B6D4"/>
            </a:solidFill>
            <a:prstDash val="solid"/>
          </a:ln>
        </p:spPr>
        <p:txBody>
          <a:bodyPr/>
          <a:lstStyle/>
          <a:p>
            <a:endParaRPr lang="fr-FR" sz="1050" dirty="0"/>
          </a:p>
        </p:txBody>
      </p:sp>
      <p:sp>
        <p:nvSpPr>
          <p:cNvPr id="21" name="Text 19"/>
          <p:cNvSpPr/>
          <p:nvPr/>
        </p:nvSpPr>
        <p:spPr>
          <a:xfrm>
            <a:off x="2131600" y="4925323"/>
            <a:ext cx="347472" cy="109728"/>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22" name="Text 20"/>
          <p:cNvSpPr/>
          <p:nvPr/>
        </p:nvSpPr>
        <p:spPr>
          <a:xfrm>
            <a:off x="1903000" y="5313943"/>
            <a:ext cx="822960" cy="320040"/>
          </a:xfrm>
          <a:prstGeom prst="rect">
            <a:avLst/>
          </a:prstGeom>
          <a:noFill/>
          <a:ln/>
        </p:spPr>
        <p:txBody>
          <a:bodyPr wrap="square" lIns="0" tIns="0" rIns="0" bIns="0" rtlCol="0" anchor="ctr">
            <a:noAutofit/>
          </a:bodyPr>
          <a:lstStyle/>
          <a:p>
            <a:pPr marL="0" indent="0" algn="ctr">
              <a:buNone/>
            </a:pPr>
            <a:r>
              <a:rPr lang="en-US" sz="1050" dirty="0">
                <a:solidFill>
                  <a:srgbClr val="475569"/>
                </a:solidFill>
              </a:rPr>
              <a:t>Prétraitement</a:t>
            </a:r>
            <a:endParaRPr lang="en-US" sz="1050" dirty="0"/>
          </a:p>
        </p:txBody>
      </p:sp>
      <p:sp>
        <p:nvSpPr>
          <p:cNvPr id="23" name="Shape 21"/>
          <p:cNvSpPr/>
          <p:nvPr/>
        </p:nvSpPr>
        <p:spPr>
          <a:xfrm>
            <a:off x="2515648" y="5030479"/>
            <a:ext cx="822960" cy="0"/>
          </a:xfrm>
          <a:prstGeom prst="line">
            <a:avLst/>
          </a:prstGeom>
          <a:noFill/>
          <a:ln w="25400">
            <a:solidFill>
              <a:srgbClr val="CBD5E1"/>
            </a:solidFill>
            <a:prstDash val="solid"/>
            <a:headEnd type="none"/>
            <a:tailEnd type="triangle"/>
          </a:ln>
        </p:spPr>
        <p:txBody>
          <a:bodyPr/>
          <a:lstStyle/>
          <a:p>
            <a:endParaRPr lang="fr-FR" sz="1050"/>
          </a:p>
        </p:txBody>
      </p:sp>
      <p:sp>
        <p:nvSpPr>
          <p:cNvPr id="24" name="Shape 22"/>
          <p:cNvSpPr/>
          <p:nvPr/>
        </p:nvSpPr>
        <p:spPr>
          <a:xfrm>
            <a:off x="3411760" y="4856743"/>
            <a:ext cx="347472" cy="347472"/>
          </a:xfrm>
          <a:prstGeom prst="ellipse">
            <a:avLst/>
          </a:prstGeom>
          <a:solidFill>
            <a:srgbClr val="1D4ED8"/>
          </a:solidFill>
          <a:ln w="12700">
            <a:solidFill>
              <a:srgbClr val="1D4ED8"/>
            </a:solidFill>
            <a:prstDash val="solid"/>
          </a:ln>
        </p:spPr>
        <p:txBody>
          <a:bodyPr/>
          <a:lstStyle/>
          <a:p>
            <a:endParaRPr lang="fr-FR" sz="1050"/>
          </a:p>
        </p:txBody>
      </p:sp>
      <p:sp>
        <p:nvSpPr>
          <p:cNvPr id="25" name="Text 23"/>
          <p:cNvSpPr/>
          <p:nvPr/>
        </p:nvSpPr>
        <p:spPr>
          <a:xfrm>
            <a:off x="3411760" y="4925323"/>
            <a:ext cx="347472" cy="109728"/>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26" name="Text 24"/>
          <p:cNvSpPr/>
          <p:nvPr/>
        </p:nvSpPr>
        <p:spPr>
          <a:xfrm>
            <a:off x="3183160" y="5313943"/>
            <a:ext cx="822960" cy="320040"/>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Modèle</a:t>
            </a:r>
            <a:endParaRPr lang="en-US" sz="1050" dirty="0"/>
          </a:p>
        </p:txBody>
      </p:sp>
      <p:sp>
        <p:nvSpPr>
          <p:cNvPr id="27" name="Shape 25"/>
          <p:cNvSpPr/>
          <p:nvPr/>
        </p:nvSpPr>
        <p:spPr>
          <a:xfrm>
            <a:off x="3795808" y="5030479"/>
            <a:ext cx="822960" cy="0"/>
          </a:xfrm>
          <a:prstGeom prst="line">
            <a:avLst/>
          </a:prstGeom>
          <a:noFill/>
          <a:ln w="25400">
            <a:solidFill>
              <a:srgbClr val="CBD5E1"/>
            </a:solidFill>
            <a:prstDash val="solid"/>
            <a:headEnd type="none"/>
            <a:tailEnd type="triangle"/>
          </a:ln>
        </p:spPr>
        <p:txBody>
          <a:bodyPr/>
          <a:lstStyle/>
          <a:p>
            <a:endParaRPr lang="fr-FR" sz="1050"/>
          </a:p>
        </p:txBody>
      </p:sp>
      <p:sp>
        <p:nvSpPr>
          <p:cNvPr id="28" name="Shape 26"/>
          <p:cNvSpPr/>
          <p:nvPr/>
        </p:nvSpPr>
        <p:spPr>
          <a:xfrm>
            <a:off x="4691920" y="4856743"/>
            <a:ext cx="347472" cy="347472"/>
          </a:xfrm>
          <a:prstGeom prst="ellipse">
            <a:avLst/>
          </a:prstGeom>
          <a:solidFill>
            <a:srgbClr val="06B6D4"/>
          </a:solidFill>
          <a:ln w="12700">
            <a:solidFill>
              <a:srgbClr val="06B6D4"/>
            </a:solidFill>
            <a:prstDash val="solid"/>
          </a:ln>
        </p:spPr>
        <p:txBody>
          <a:bodyPr/>
          <a:lstStyle/>
          <a:p>
            <a:endParaRPr lang="fr-FR" sz="1050" dirty="0"/>
          </a:p>
        </p:txBody>
      </p:sp>
      <p:sp>
        <p:nvSpPr>
          <p:cNvPr id="29" name="Text 27"/>
          <p:cNvSpPr/>
          <p:nvPr/>
        </p:nvSpPr>
        <p:spPr>
          <a:xfrm>
            <a:off x="4691920" y="4925323"/>
            <a:ext cx="347472" cy="109728"/>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30" name="Text 28"/>
          <p:cNvSpPr/>
          <p:nvPr/>
        </p:nvSpPr>
        <p:spPr>
          <a:xfrm>
            <a:off x="4463320" y="5313943"/>
            <a:ext cx="822960" cy="320040"/>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Coût</a:t>
            </a:r>
            <a:endParaRPr lang="en-US" sz="1050" dirty="0"/>
          </a:p>
        </p:txBody>
      </p:sp>
      <p:sp>
        <p:nvSpPr>
          <p:cNvPr id="31" name="Shape 29"/>
          <p:cNvSpPr/>
          <p:nvPr/>
        </p:nvSpPr>
        <p:spPr>
          <a:xfrm>
            <a:off x="5075968" y="5030479"/>
            <a:ext cx="822960" cy="0"/>
          </a:xfrm>
          <a:prstGeom prst="line">
            <a:avLst/>
          </a:prstGeom>
          <a:noFill/>
          <a:ln w="25400">
            <a:solidFill>
              <a:srgbClr val="CBD5E1"/>
            </a:solidFill>
            <a:prstDash val="solid"/>
            <a:headEnd type="none"/>
            <a:tailEnd type="triangle"/>
          </a:ln>
        </p:spPr>
        <p:txBody>
          <a:bodyPr/>
          <a:lstStyle/>
          <a:p>
            <a:endParaRPr lang="fr-FR" sz="1050"/>
          </a:p>
        </p:txBody>
      </p:sp>
      <p:sp>
        <p:nvSpPr>
          <p:cNvPr id="32" name="Shape 30"/>
          <p:cNvSpPr/>
          <p:nvPr/>
        </p:nvSpPr>
        <p:spPr>
          <a:xfrm>
            <a:off x="5972080" y="4856743"/>
            <a:ext cx="347472" cy="347472"/>
          </a:xfrm>
          <a:prstGeom prst="ellipse">
            <a:avLst/>
          </a:prstGeom>
          <a:solidFill>
            <a:srgbClr val="1D4ED8"/>
          </a:solidFill>
          <a:ln w="12700">
            <a:solidFill>
              <a:srgbClr val="1D4ED8"/>
            </a:solidFill>
            <a:prstDash val="solid"/>
          </a:ln>
        </p:spPr>
        <p:txBody>
          <a:bodyPr/>
          <a:lstStyle/>
          <a:p>
            <a:endParaRPr lang="fr-FR" sz="1050"/>
          </a:p>
        </p:txBody>
      </p:sp>
      <p:sp>
        <p:nvSpPr>
          <p:cNvPr id="33" name="Text 31"/>
          <p:cNvSpPr/>
          <p:nvPr/>
        </p:nvSpPr>
        <p:spPr>
          <a:xfrm>
            <a:off x="5972080" y="4925323"/>
            <a:ext cx="347472" cy="109728"/>
          </a:xfrm>
          <a:prstGeom prst="rect">
            <a:avLst/>
          </a:prstGeom>
          <a:noFill/>
          <a:ln/>
        </p:spPr>
        <p:txBody>
          <a:bodyPr wrap="square" lIns="0" tIns="0" rIns="0" bIns="0" rtlCol="0" anchor="ctr"/>
          <a:lstStyle/>
          <a:p>
            <a:pPr marL="0" indent="0" algn="ctr">
              <a:buNone/>
            </a:pPr>
            <a:r>
              <a:rPr lang="en-US" sz="1050" b="1" dirty="0">
                <a:solidFill>
                  <a:srgbClr val="FFFFFF"/>
                </a:solidFill>
              </a:rPr>
              <a:t>5</a:t>
            </a:r>
            <a:endParaRPr lang="en-US" sz="1050" dirty="0"/>
          </a:p>
        </p:txBody>
      </p:sp>
      <p:sp>
        <p:nvSpPr>
          <p:cNvPr id="34" name="Text 32"/>
          <p:cNvSpPr/>
          <p:nvPr/>
        </p:nvSpPr>
        <p:spPr>
          <a:xfrm>
            <a:off x="5743480" y="5313943"/>
            <a:ext cx="822960" cy="320040"/>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Gradient</a:t>
            </a:r>
            <a:endParaRPr lang="en-US" sz="1050" dirty="0"/>
          </a:p>
        </p:txBody>
      </p:sp>
      <p:sp>
        <p:nvSpPr>
          <p:cNvPr id="35" name="Shape 33"/>
          <p:cNvSpPr/>
          <p:nvPr/>
        </p:nvSpPr>
        <p:spPr>
          <a:xfrm>
            <a:off x="6356128" y="5030479"/>
            <a:ext cx="822960" cy="0"/>
          </a:xfrm>
          <a:prstGeom prst="line">
            <a:avLst/>
          </a:prstGeom>
          <a:noFill/>
          <a:ln w="25400">
            <a:solidFill>
              <a:srgbClr val="CBD5E1"/>
            </a:solidFill>
            <a:prstDash val="solid"/>
            <a:headEnd type="none"/>
            <a:tailEnd type="triangle"/>
          </a:ln>
        </p:spPr>
        <p:txBody>
          <a:bodyPr/>
          <a:lstStyle/>
          <a:p>
            <a:endParaRPr lang="fr-FR" sz="1050"/>
          </a:p>
        </p:txBody>
      </p:sp>
      <p:sp>
        <p:nvSpPr>
          <p:cNvPr id="36" name="Shape 34"/>
          <p:cNvSpPr/>
          <p:nvPr/>
        </p:nvSpPr>
        <p:spPr>
          <a:xfrm>
            <a:off x="7252240" y="4856743"/>
            <a:ext cx="347472" cy="347472"/>
          </a:xfrm>
          <a:prstGeom prst="ellipse">
            <a:avLst/>
          </a:prstGeom>
          <a:solidFill>
            <a:srgbClr val="06B6D4"/>
          </a:solidFill>
          <a:ln w="12700">
            <a:solidFill>
              <a:srgbClr val="06B6D4"/>
            </a:solidFill>
            <a:prstDash val="solid"/>
          </a:ln>
        </p:spPr>
        <p:txBody>
          <a:bodyPr/>
          <a:lstStyle/>
          <a:p>
            <a:endParaRPr lang="fr-FR" sz="1050"/>
          </a:p>
        </p:txBody>
      </p:sp>
      <p:sp>
        <p:nvSpPr>
          <p:cNvPr id="37" name="Text 35"/>
          <p:cNvSpPr/>
          <p:nvPr/>
        </p:nvSpPr>
        <p:spPr>
          <a:xfrm>
            <a:off x="7252240" y="4925323"/>
            <a:ext cx="347472" cy="109728"/>
          </a:xfrm>
          <a:prstGeom prst="rect">
            <a:avLst/>
          </a:prstGeom>
          <a:noFill/>
          <a:ln/>
        </p:spPr>
        <p:txBody>
          <a:bodyPr wrap="square" lIns="0" tIns="0" rIns="0" bIns="0" rtlCol="0" anchor="ctr"/>
          <a:lstStyle/>
          <a:p>
            <a:pPr marL="0" indent="0" algn="ctr">
              <a:buNone/>
            </a:pPr>
            <a:r>
              <a:rPr lang="en-US" sz="1050" b="1" dirty="0">
                <a:solidFill>
                  <a:srgbClr val="FFFFFF"/>
                </a:solidFill>
              </a:rPr>
              <a:t>6</a:t>
            </a:r>
            <a:endParaRPr lang="en-US" sz="1050" dirty="0"/>
          </a:p>
        </p:txBody>
      </p:sp>
      <p:sp>
        <p:nvSpPr>
          <p:cNvPr id="38" name="Text 36"/>
          <p:cNvSpPr/>
          <p:nvPr/>
        </p:nvSpPr>
        <p:spPr>
          <a:xfrm>
            <a:off x="7023640" y="5313943"/>
            <a:ext cx="822960" cy="320040"/>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Prédiction</a:t>
            </a:r>
            <a:endParaRPr lang="en-US" sz="1050" dirty="0"/>
          </a:p>
        </p:txBody>
      </p:sp>
      <p:sp>
        <p:nvSpPr>
          <p:cNvPr id="39" name="Shape 37"/>
          <p:cNvSpPr/>
          <p:nvPr/>
        </p:nvSpPr>
        <p:spPr>
          <a:xfrm>
            <a:off x="7636288" y="5030479"/>
            <a:ext cx="822960" cy="0"/>
          </a:xfrm>
          <a:prstGeom prst="line">
            <a:avLst/>
          </a:prstGeom>
          <a:noFill/>
          <a:ln w="25400">
            <a:solidFill>
              <a:srgbClr val="CBD5E1"/>
            </a:solidFill>
            <a:prstDash val="solid"/>
            <a:headEnd type="none"/>
            <a:tailEnd type="triangle"/>
          </a:ln>
        </p:spPr>
        <p:txBody>
          <a:bodyPr/>
          <a:lstStyle/>
          <a:p>
            <a:endParaRPr lang="fr-FR" sz="1050"/>
          </a:p>
        </p:txBody>
      </p:sp>
      <p:sp>
        <p:nvSpPr>
          <p:cNvPr id="40" name="Shape 38"/>
          <p:cNvSpPr/>
          <p:nvPr/>
        </p:nvSpPr>
        <p:spPr>
          <a:xfrm>
            <a:off x="8532400" y="4856743"/>
            <a:ext cx="347472" cy="347472"/>
          </a:xfrm>
          <a:prstGeom prst="ellipse">
            <a:avLst/>
          </a:prstGeom>
          <a:solidFill>
            <a:srgbClr val="1D4ED8"/>
          </a:solidFill>
          <a:ln w="12700">
            <a:solidFill>
              <a:srgbClr val="1D4ED8"/>
            </a:solidFill>
            <a:prstDash val="solid"/>
          </a:ln>
        </p:spPr>
        <p:txBody>
          <a:bodyPr/>
          <a:lstStyle/>
          <a:p>
            <a:endParaRPr lang="fr-FR" sz="1050"/>
          </a:p>
        </p:txBody>
      </p:sp>
      <p:sp>
        <p:nvSpPr>
          <p:cNvPr id="41" name="Text 39"/>
          <p:cNvSpPr/>
          <p:nvPr/>
        </p:nvSpPr>
        <p:spPr>
          <a:xfrm>
            <a:off x="8532400" y="4925323"/>
            <a:ext cx="347472" cy="109728"/>
          </a:xfrm>
          <a:prstGeom prst="rect">
            <a:avLst/>
          </a:prstGeom>
          <a:noFill/>
          <a:ln/>
        </p:spPr>
        <p:txBody>
          <a:bodyPr wrap="square" lIns="0" tIns="0" rIns="0" bIns="0" rtlCol="0" anchor="ctr"/>
          <a:lstStyle/>
          <a:p>
            <a:pPr marL="0" indent="0" algn="ctr">
              <a:buNone/>
            </a:pPr>
            <a:r>
              <a:rPr lang="en-US" sz="1050" b="1" dirty="0">
                <a:solidFill>
                  <a:srgbClr val="FFFFFF"/>
                </a:solidFill>
              </a:rPr>
              <a:t>7</a:t>
            </a:r>
            <a:endParaRPr lang="en-US" sz="1050" dirty="0"/>
          </a:p>
        </p:txBody>
      </p:sp>
      <p:sp>
        <p:nvSpPr>
          <p:cNvPr id="42" name="Text 40"/>
          <p:cNvSpPr/>
          <p:nvPr/>
        </p:nvSpPr>
        <p:spPr>
          <a:xfrm>
            <a:off x="8303800" y="5313943"/>
            <a:ext cx="822960" cy="320040"/>
          </a:xfrm>
          <a:prstGeom prst="rect">
            <a:avLst/>
          </a:prstGeom>
          <a:noFill/>
          <a:ln/>
        </p:spPr>
        <p:txBody>
          <a:bodyPr wrap="square" lIns="0" tIns="0" rIns="0" bIns="0" rtlCol="0" anchor="ctr">
            <a:normAutofit/>
          </a:bodyPr>
          <a:lstStyle/>
          <a:p>
            <a:pPr marL="0" indent="0" algn="ctr">
              <a:buNone/>
            </a:pPr>
            <a:r>
              <a:rPr lang="en-US" sz="1050" dirty="0">
                <a:solidFill>
                  <a:srgbClr val="475569"/>
                </a:solidFill>
              </a:rPr>
              <a:t>Évaluation</a:t>
            </a:r>
            <a:endParaRPr lang="en-US" sz="1050" dirty="0"/>
          </a:p>
        </p:txBody>
      </p:sp>
      <p:sp>
        <p:nvSpPr>
          <p:cNvPr id="43" name="Shape 41"/>
          <p:cNvSpPr/>
          <p:nvPr/>
        </p:nvSpPr>
        <p:spPr>
          <a:xfrm>
            <a:off x="8916448" y="5030479"/>
            <a:ext cx="822960" cy="0"/>
          </a:xfrm>
          <a:prstGeom prst="line">
            <a:avLst/>
          </a:prstGeom>
          <a:noFill/>
          <a:ln w="25400">
            <a:solidFill>
              <a:srgbClr val="CBD5E1"/>
            </a:solidFill>
            <a:prstDash val="solid"/>
            <a:headEnd type="none"/>
            <a:tailEnd type="triangle"/>
          </a:ln>
        </p:spPr>
        <p:txBody>
          <a:bodyPr/>
          <a:lstStyle/>
          <a:p>
            <a:endParaRPr lang="fr-FR" sz="1050"/>
          </a:p>
        </p:txBody>
      </p:sp>
      <p:sp>
        <p:nvSpPr>
          <p:cNvPr id="44" name="Shape 42"/>
          <p:cNvSpPr/>
          <p:nvPr/>
        </p:nvSpPr>
        <p:spPr>
          <a:xfrm>
            <a:off x="9812560" y="4856743"/>
            <a:ext cx="347472" cy="347472"/>
          </a:xfrm>
          <a:prstGeom prst="ellipse">
            <a:avLst/>
          </a:prstGeom>
          <a:solidFill>
            <a:srgbClr val="06B6D4"/>
          </a:solidFill>
          <a:ln w="12700">
            <a:solidFill>
              <a:srgbClr val="06B6D4"/>
            </a:solidFill>
            <a:prstDash val="solid"/>
          </a:ln>
        </p:spPr>
        <p:txBody>
          <a:bodyPr/>
          <a:lstStyle/>
          <a:p>
            <a:endParaRPr lang="fr-FR" sz="1050"/>
          </a:p>
        </p:txBody>
      </p:sp>
      <p:sp>
        <p:nvSpPr>
          <p:cNvPr id="45" name="Text 43"/>
          <p:cNvSpPr/>
          <p:nvPr/>
        </p:nvSpPr>
        <p:spPr>
          <a:xfrm>
            <a:off x="9812560" y="4925323"/>
            <a:ext cx="347472" cy="109728"/>
          </a:xfrm>
          <a:prstGeom prst="rect">
            <a:avLst/>
          </a:prstGeom>
          <a:noFill/>
          <a:ln/>
        </p:spPr>
        <p:txBody>
          <a:bodyPr wrap="square" lIns="0" tIns="0" rIns="0" bIns="0" rtlCol="0" anchor="ctr"/>
          <a:lstStyle/>
          <a:p>
            <a:pPr marL="0" indent="0" algn="ctr">
              <a:buNone/>
            </a:pPr>
            <a:r>
              <a:rPr lang="en-US" sz="1050" b="1" dirty="0">
                <a:solidFill>
                  <a:srgbClr val="FFFFFF"/>
                </a:solidFill>
              </a:rPr>
              <a:t>8</a:t>
            </a:r>
            <a:endParaRPr lang="en-US" sz="1050" dirty="0"/>
          </a:p>
        </p:txBody>
      </p:sp>
      <p:sp>
        <p:nvSpPr>
          <p:cNvPr id="46" name="Text 44"/>
          <p:cNvSpPr/>
          <p:nvPr/>
        </p:nvSpPr>
        <p:spPr>
          <a:xfrm>
            <a:off x="9583960" y="5313943"/>
            <a:ext cx="822960" cy="320040"/>
          </a:xfrm>
          <a:prstGeom prst="rect">
            <a:avLst/>
          </a:prstGeom>
          <a:noFill/>
          <a:ln/>
        </p:spPr>
        <p:txBody>
          <a:bodyPr wrap="square" lIns="0" tIns="0" rIns="0" bIns="0" rtlCol="0" anchor="ctr">
            <a:noAutofit/>
          </a:bodyPr>
          <a:lstStyle/>
          <a:p>
            <a:pPr marL="0" indent="0" algn="ctr">
              <a:buNone/>
            </a:pPr>
            <a:r>
              <a:rPr lang="en-US" sz="1050" dirty="0">
                <a:solidFill>
                  <a:srgbClr val="475569"/>
                </a:solidFill>
              </a:rPr>
              <a:t>Interprétation</a:t>
            </a:r>
            <a:endParaRPr lang="en-US" sz="1050" dirty="0"/>
          </a:p>
        </p:txBody>
      </p:sp>
      <p:sp>
        <p:nvSpPr>
          <p:cNvPr id="47" name="Text 45"/>
          <p:cNvSpPr/>
          <p:nvPr/>
        </p:nvSpPr>
        <p:spPr>
          <a:xfrm>
            <a:off x="974360" y="5646040"/>
            <a:ext cx="10287000" cy="457200"/>
          </a:xfrm>
          <a:prstGeom prst="rect">
            <a:avLst/>
          </a:prstGeom>
          <a:noFill/>
          <a:ln/>
        </p:spPr>
        <p:txBody>
          <a:bodyPr wrap="square" lIns="0" tIns="0" rIns="0" bIns="0" rtlCol="0" anchor="ctr"/>
          <a:lstStyle/>
          <a:p>
            <a:pPr marL="0" indent="0" algn="ctr">
              <a:buNone/>
            </a:pPr>
            <a:endParaRPr lang="en-US" sz="1500" dirty="0"/>
          </a:p>
        </p:txBody>
      </p:sp>
      <p:sp>
        <p:nvSpPr>
          <p:cNvPr id="48"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Problème traité et jeu de données</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De la table initiale aux variables exploitables par le modèle</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Text 4"/>
          <p:cNvSpPr/>
          <p:nvPr/>
        </p:nvSpPr>
        <p:spPr>
          <a:xfrm>
            <a:off x="685800" y="1234440"/>
            <a:ext cx="5303520" cy="274320"/>
          </a:xfrm>
          <a:prstGeom prst="rect">
            <a:avLst/>
          </a:prstGeom>
          <a:noFill/>
          <a:ln/>
        </p:spPr>
        <p:txBody>
          <a:bodyPr wrap="square" lIns="0" tIns="0" rIns="0" bIns="0" rtlCol="0" anchor="ctr"/>
          <a:lstStyle/>
          <a:p>
            <a:pPr marL="0" indent="0">
              <a:buNone/>
            </a:pPr>
            <a:r>
              <a:rPr lang="en-US" sz="1600" b="1" dirty="0">
                <a:solidFill>
                  <a:srgbClr val="0F172A"/>
                </a:solidFill>
              </a:rPr>
              <a:t>Le modèle répond à une question binaire :</a:t>
            </a:r>
            <a:endParaRPr lang="en-US" sz="1600" dirty="0"/>
          </a:p>
        </p:txBody>
      </p:sp>
      <p:sp>
        <p:nvSpPr>
          <p:cNvPr id="7" name="Shape 5"/>
          <p:cNvSpPr/>
          <p:nvPr/>
        </p:nvSpPr>
        <p:spPr>
          <a:xfrm>
            <a:off x="713232" y="1737360"/>
            <a:ext cx="4480560" cy="777240"/>
          </a:xfrm>
          <a:prstGeom prst="roundRect">
            <a:avLst/>
          </a:prstGeom>
          <a:solidFill>
            <a:srgbClr val="FFFFFF"/>
          </a:solidFill>
          <a:ln w="15240">
            <a:solidFill>
              <a:srgbClr val="1D4ED8"/>
            </a:solidFill>
            <a:prstDash val="solid"/>
          </a:ln>
        </p:spPr>
        <p:txBody>
          <a:bodyPr/>
          <a:lstStyle/>
          <a:p>
            <a:endParaRPr lang="fr-FR"/>
          </a:p>
        </p:txBody>
      </p:sp>
      <p:sp>
        <p:nvSpPr>
          <p:cNvPr id="8" name="Text 6"/>
          <p:cNvSpPr/>
          <p:nvPr/>
        </p:nvSpPr>
        <p:spPr>
          <a:xfrm>
            <a:off x="1024128" y="1938528"/>
            <a:ext cx="3749040" cy="228600"/>
          </a:xfrm>
          <a:prstGeom prst="rect">
            <a:avLst/>
          </a:prstGeom>
          <a:noFill/>
          <a:ln/>
        </p:spPr>
        <p:txBody>
          <a:bodyPr wrap="square" lIns="0" tIns="0" rIns="0" bIns="0" rtlCol="0" anchor="ctr"/>
          <a:lstStyle/>
          <a:p>
            <a:pPr marL="0" indent="0" algn="ctr">
              <a:buNone/>
            </a:pPr>
            <a:r>
              <a:rPr lang="en-US" sz="2000" b="1" dirty="0">
                <a:solidFill>
                  <a:srgbClr val="1D4ED8"/>
                </a:solidFill>
              </a:rPr>
              <a:t>Classe 0 ou classe 1 ?</a:t>
            </a:r>
            <a:endParaRPr lang="en-US" sz="2000" dirty="0"/>
          </a:p>
        </p:txBody>
      </p:sp>
      <p:sp>
        <p:nvSpPr>
          <p:cNvPr id="9" name="Shape 7"/>
          <p:cNvSpPr/>
          <p:nvPr/>
        </p:nvSpPr>
        <p:spPr>
          <a:xfrm>
            <a:off x="5440680" y="2121408"/>
            <a:ext cx="1097280" cy="0"/>
          </a:xfrm>
          <a:prstGeom prst="line">
            <a:avLst/>
          </a:prstGeom>
          <a:noFill/>
          <a:ln w="25400">
            <a:solidFill>
              <a:srgbClr val="1D4ED8"/>
            </a:solidFill>
            <a:prstDash val="solid"/>
            <a:headEnd type="none"/>
            <a:tailEnd type="triangle"/>
          </a:ln>
        </p:spPr>
        <p:txBody>
          <a:bodyPr/>
          <a:lstStyle/>
          <a:p>
            <a:endParaRPr lang="fr-FR"/>
          </a:p>
        </p:txBody>
      </p:sp>
      <p:sp>
        <p:nvSpPr>
          <p:cNvPr id="10" name="Shape 8"/>
          <p:cNvSpPr/>
          <p:nvPr/>
        </p:nvSpPr>
        <p:spPr>
          <a:xfrm>
            <a:off x="6720840" y="1463040"/>
            <a:ext cx="1828800" cy="502920"/>
          </a:xfrm>
          <a:prstGeom prst="roundRect">
            <a:avLst/>
          </a:prstGeom>
          <a:solidFill>
            <a:srgbClr val="FEE2E2"/>
          </a:solidFill>
          <a:ln w="12700">
            <a:solidFill>
              <a:srgbClr val="EF4444"/>
            </a:solidFill>
            <a:prstDash val="solid"/>
          </a:ln>
        </p:spPr>
        <p:txBody>
          <a:bodyPr/>
          <a:lstStyle/>
          <a:p>
            <a:endParaRPr lang="fr-FR"/>
          </a:p>
        </p:txBody>
      </p:sp>
      <p:sp>
        <p:nvSpPr>
          <p:cNvPr id="11" name="Text 9"/>
          <p:cNvSpPr/>
          <p:nvPr/>
        </p:nvSpPr>
        <p:spPr>
          <a:xfrm>
            <a:off x="7132320" y="1591056"/>
            <a:ext cx="1005840" cy="182880"/>
          </a:xfrm>
          <a:prstGeom prst="rect">
            <a:avLst/>
          </a:prstGeom>
          <a:noFill/>
          <a:ln/>
        </p:spPr>
        <p:txBody>
          <a:bodyPr wrap="square" lIns="0" tIns="0" rIns="0" bIns="0" rtlCol="0" anchor="ctr"/>
          <a:lstStyle/>
          <a:p>
            <a:pPr marL="0" indent="0" algn="ctr">
              <a:buNone/>
            </a:pPr>
            <a:r>
              <a:rPr lang="en-US" sz="1400" b="1" dirty="0">
                <a:solidFill>
                  <a:srgbClr val="EF4444"/>
                </a:solidFill>
              </a:rPr>
              <a:t>y = 0</a:t>
            </a:r>
            <a:endParaRPr lang="en-US" sz="1400" dirty="0"/>
          </a:p>
        </p:txBody>
      </p:sp>
      <p:sp>
        <p:nvSpPr>
          <p:cNvPr id="12" name="Shape 10"/>
          <p:cNvSpPr/>
          <p:nvPr/>
        </p:nvSpPr>
        <p:spPr>
          <a:xfrm>
            <a:off x="6720840" y="2286000"/>
            <a:ext cx="1828800" cy="502920"/>
          </a:xfrm>
          <a:prstGeom prst="roundRect">
            <a:avLst/>
          </a:prstGeom>
          <a:solidFill>
            <a:srgbClr val="DCFCE7"/>
          </a:solidFill>
          <a:ln w="12700">
            <a:solidFill>
              <a:srgbClr val="10B981"/>
            </a:solidFill>
            <a:prstDash val="solid"/>
          </a:ln>
        </p:spPr>
        <p:txBody>
          <a:bodyPr/>
          <a:lstStyle/>
          <a:p>
            <a:endParaRPr lang="fr-FR"/>
          </a:p>
        </p:txBody>
      </p:sp>
      <p:sp>
        <p:nvSpPr>
          <p:cNvPr id="13" name="Text 11"/>
          <p:cNvSpPr/>
          <p:nvPr/>
        </p:nvSpPr>
        <p:spPr>
          <a:xfrm>
            <a:off x="7132320" y="2414016"/>
            <a:ext cx="1005840" cy="182880"/>
          </a:xfrm>
          <a:prstGeom prst="rect">
            <a:avLst/>
          </a:prstGeom>
          <a:noFill/>
          <a:ln/>
        </p:spPr>
        <p:txBody>
          <a:bodyPr wrap="square" lIns="0" tIns="0" rIns="0" bIns="0" rtlCol="0" anchor="ctr"/>
          <a:lstStyle/>
          <a:p>
            <a:pPr marL="0" indent="0" algn="ctr">
              <a:buNone/>
            </a:pPr>
            <a:r>
              <a:rPr lang="en-US" sz="1400" b="1" dirty="0">
                <a:solidFill>
                  <a:srgbClr val="10B981"/>
                </a:solidFill>
              </a:rPr>
              <a:t>y = 1</a:t>
            </a:r>
            <a:endParaRPr lang="en-US" sz="1400" dirty="0"/>
          </a:p>
        </p:txBody>
      </p:sp>
      <p:sp>
        <p:nvSpPr>
          <p:cNvPr id="14" name="Text 12"/>
          <p:cNvSpPr/>
          <p:nvPr/>
        </p:nvSpPr>
        <p:spPr>
          <a:xfrm>
            <a:off x="713232" y="2971800"/>
            <a:ext cx="8046720" cy="365760"/>
          </a:xfrm>
          <a:prstGeom prst="rect">
            <a:avLst/>
          </a:prstGeom>
          <a:noFill/>
          <a:ln/>
        </p:spPr>
        <p:txBody>
          <a:bodyPr wrap="square" lIns="0" tIns="0" rIns="0" bIns="0" rtlCol="0" anchor="ctr"/>
          <a:lstStyle/>
          <a:p>
            <a:pPr marL="0" indent="0">
              <a:buNone/>
            </a:pPr>
            <a:r>
              <a:rPr lang="en-US" sz="1350" dirty="0">
                <a:solidFill>
                  <a:srgbClr val="475569"/>
                </a:solidFill>
              </a:rPr>
              <a:t>Dans le notebook, la cible est encodée en 0/1, et les variables explicatives sont regroupées dans X.</a:t>
            </a:r>
            <a:endParaRPr lang="en-US" sz="1350" dirty="0"/>
          </a:p>
        </p:txBody>
      </p:sp>
      <p:sp>
        <p:nvSpPr>
          <p:cNvPr id="15" name="Shape 13"/>
          <p:cNvSpPr/>
          <p:nvPr/>
        </p:nvSpPr>
        <p:spPr>
          <a:xfrm>
            <a:off x="713232" y="3703320"/>
            <a:ext cx="3108960" cy="1005840"/>
          </a:xfrm>
          <a:prstGeom prst="roundRect">
            <a:avLst>
              <a:gd name="adj" fmla="val 7273"/>
            </a:avLst>
          </a:prstGeom>
          <a:solidFill>
            <a:srgbClr val="DBEAFE"/>
          </a:solidFill>
          <a:ln w="12700">
            <a:solidFill>
              <a:srgbClr val="1D4ED8"/>
            </a:solidFill>
            <a:prstDash val="solid"/>
          </a:ln>
        </p:spPr>
        <p:txBody>
          <a:bodyPr/>
          <a:lstStyle/>
          <a:p>
            <a:endParaRPr lang="fr-FR"/>
          </a:p>
        </p:txBody>
      </p:sp>
      <p:sp>
        <p:nvSpPr>
          <p:cNvPr id="16" name="Text 14"/>
          <p:cNvSpPr/>
          <p:nvPr/>
        </p:nvSpPr>
        <p:spPr>
          <a:xfrm>
            <a:off x="877824" y="3813048"/>
            <a:ext cx="2779776" cy="228600"/>
          </a:xfrm>
          <a:prstGeom prst="rect">
            <a:avLst/>
          </a:prstGeom>
          <a:noFill/>
          <a:ln/>
        </p:spPr>
        <p:txBody>
          <a:bodyPr wrap="square" lIns="0" tIns="0" rIns="0" bIns="0" rtlCol="0" anchor="ctr"/>
          <a:lstStyle/>
          <a:p>
            <a:pPr marL="0" indent="0">
              <a:buNone/>
            </a:pPr>
            <a:r>
              <a:rPr lang="en-US" sz="1200" b="1" dirty="0">
                <a:solidFill>
                  <a:srgbClr val="0F172A"/>
                </a:solidFill>
              </a:rPr>
              <a:t>X : variables explicatives</a:t>
            </a:r>
            <a:endParaRPr lang="en-US" sz="1200" dirty="0"/>
          </a:p>
        </p:txBody>
      </p:sp>
      <p:sp>
        <p:nvSpPr>
          <p:cNvPr id="17" name="Text 15"/>
          <p:cNvSpPr/>
          <p:nvPr/>
        </p:nvSpPr>
        <p:spPr>
          <a:xfrm>
            <a:off x="877824" y="4142232"/>
            <a:ext cx="2779776" cy="41148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Matrice de taille m × n : m observations et n variables.</a:t>
            </a:r>
            <a:endParaRPr lang="en-US" sz="1050" dirty="0"/>
          </a:p>
        </p:txBody>
      </p:sp>
      <p:sp>
        <p:nvSpPr>
          <p:cNvPr id="18" name="Shape 16"/>
          <p:cNvSpPr/>
          <p:nvPr/>
        </p:nvSpPr>
        <p:spPr>
          <a:xfrm>
            <a:off x="4069080" y="3703320"/>
            <a:ext cx="3108960" cy="1005840"/>
          </a:xfrm>
          <a:prstGeom prst="roundRect">
            <a:avLst>
              <a:gd name="adj" fmla="val 7273"/>
            </a:avLst>
          </a:prstGeom>
          <a:solidFill>
            <a:srgbClr val="CFFAFE"/>
          </a:solidFill>
          <a:ln w="12700">
            <a:solidFill>
              <a:srgbClr val="06B6D4"/>
            </a:solidFill>
            <a:prstDash val="solid"/>
          </a:ln>
        </p:spPr>
        <p:txBody>
          <a:bodyPr/>
          <a:lstStyle/>
          <a:p>
            <a:endParaRPr lang="fr-FR"/>
          </a:p>
        </p:txBody>
      </p:sp>
      <p:sp>
        <p:nvSpPr>
          <p:cNvPr id="19" name="Text 17"/>
          <p:cNvSpPr/>
          <p:nvPr/>
        </p:nvSpPr>
        <p:spPr>
          <a:xfrm>
            <a:off x="4233672" y="3813048"/>
            <a:ext cx="2779776" cy="228600"/>
          </a:xfrm>
          <a:prstGeom prst="rect">
            <a:avLst/>
          </a:prstGeom>
          <a:noFill/>
          <a:ln/>
        </p:spPr>
        <p:txBody>
          <a:bodyPr wrap="square" lIns="0" tIns="0" rIns="0" bIns="0" rtlCol="0" anchor="ctr"/>
          <a:lstStyle/>
          <a:p>
            <a:pPr marL="0" indent="0">
              <a:buNone/>
            </a:pPr>
            <a:r>
              <a:rPr lang="en-US" sz="1200" b="1" dirty="0">
                <a:solidFill>
                  <a:srgbClr val="0F172A"/>
                </a:solidFill>
              </a:rPr>
              <a:t>y : cible binaire</a:t>
            </a:r>
            <a:endParaRPr lang="en-US" sz="1200" dirty="0"/>
          </a:p>
        </p:txBody>
      </p:sp>
      <p:sp>
        <p:nvSpPr>
          <p:cNvPr id="20" name="Text 18"/>
          <p:cNvSpPr/>
          <p:nvPr/>
        </p:nvSpPr>
        <p:spPr>
          <a:xfrm>
            <a:off x="4233672" y="4142232"/>
            <a:ext cx="2779776" cy="41148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Vecteur de taille m contenant seulement 0 ou 1.</a:t>
            </a:r>
            <a:endParaRPr lang="en-US" sz="1050" dirty="0"/>
          </a:p>
        </p:txBody>
      </p:sp>
      <p:sp>
        <p:nvSpPr>
          <p:cNvPr id="21" name="Shape 19"/>
          <p:cNvSpPr/>
          <p:nvPr/>
        </p:nvSpPr>
        <p:spPr>
          <a:xfrm>
            <a:off x="7424928" y="3703320"/>
            <a:ext cx="3566160" cy="1005840"/>
          </a:xfrm>
          <a:prstGeom prst="roundRect">
            <a:avLst>
              <a:gd name="adj" fmla="val 7273"/>
            </a:avLst>
          </a:prstGeom>
          <a:solidFill>
            <a:srgbClr val="FFFFFF"/>
          </a:solidFill>
          <a:ln w="12700">
            <a:solidFill>
              <a:srgbClr val="475569"/>
            </a:solidFill>
            <a:prstDash val="solid"/>
          </a:ln>
        </p:spPr>
        <p:txBody>
          <a:bodyPr/>
          <a:lstStyle/>
          <a:p>
            <a:endParaRPr lang="fr-FR"/>
          </a:p>
        </p:txBody>
      </p:sp>
      <p:sp>
        <p:nvSpPr>
          <p:cNvPr id="22" name="Text 20"/>
          <p:cNvSpPr/>
          <p:nvPr/>
        </p:nvSpPr>
        <p:spPr>
          <a:xfrm>
            <a:off x="7589520" y="3813048"/>
            <a:ext cx="3236976" cy="228600"/>
          </a:xfrm>
          <a:prstGeom prst="rect">
            <a:avLst/>
          </a:prstGeom>
          <a:noFill/>
          <a:ln/>
        </p:spPr>
        <p:txBody>
          <a:bodyPr wrap="square" lIns="0" tIns="0" rIns="0" bIns="0" rtlCol="0" anchor="ctr"/>
          <a:lstStyle/>
          <a:p>
            <a:pPr marL="0" indent="0">
              <a:buNone/>
            </a:pPr>
            <a:r>
              <a:rPr lang="en-US" sz="1200" b="1" dirty="0">
                <a:solidFill>
                  <a:srgbClr val="0F172A"/>
                </a:solidFill>
              </a:rPr>
              <a:t>Pourquoi nettoyer ?</a:t>
            </a:r>
            <a:endParaRPr lang="en-US" sz="1200" dirty="0"/>
          </a:p>
        </p:txBody>
      </p:sp>
      <p:sp>
        <p:nvSpPr>
          <p:cNvPr id="23" name="Text 21"/>
          <p:cNvSpPr/>
          <p:nvPr/>
        </p:nvSpPr>
        <p:spPr>
          <a:xfrm>
            <a:off x="7589520" y="4142232"/>
            <a:ext cx="3236976" cy="411480"/>
          </a:xfrm>
          <a:prstGeom prst="rect">
            <a:avLst/>
          </a:prstGeom>
          <a:noFill/>
          <a:ln/>
        </p:spPr>
        <p:txBody>
          <a:bodyPr wrap="square" lIns="254" tIns="254" rIns="254" bIns="254" rtlCol="0" anchor="ctr">
            <a:normAutofit fontScale="92500" lnSpcReduction="20000"/>
          </a:bodyPr>
          <a:lstStyle/>
          <a:p>
            <a:pPr marL="0" indent="0">
              <a:buNone/>
            </a:pPr>
            <a:r>
              <a:rPr lang="en-US" sz="1050" dirty="0">
                <a:solidFill>
                  <a:srgbClr val="475569"/>
                </a:solidFill>
              </a:rPr>
              <a:t>Un modèle numérique ne peut pas apprendre correctement avec des valeurs manquantes ou des variables non encodées.</a:t>
            </a:r>
            <a:endParaRPr lang="en-US" sz="1050" dirty="0"/>
          </a:p>
        </p:txBody>
      </p:sp>
      <p:sp>
        <p:nvSpPr>
          <p:cNvPr id="24" name="Text 22"/>
          <p:cNvSpPr/>
          <p:nvPr/>
        </p:nvSpPr>
        <p:spPr>
          <a:xfrm>
            <a:off x="822960" y="5349240"/>
            <a:ext cx="10241280" cy="320040"/>
          </a:xfrm>
          <a:prstGeom prst="rect">
            <a:avLst/>
          </a:prstGeom>
          <a:noFill/>
          <a:ln/>
        </p:spPr>
        <p:txBody>
          <a:bodyPr wrap="square" lIns="0" tIns="0" rIns="0" bIns="0" rtlCol="0" anchor="ctr"/>
          <a:lstStyle/>
          <a:p>
            <a:pPr marL="0" indent="0" algn="ctr">
              <a:buNone/>
            </a:pPr>
            <a:r>
              <a:rPr lang="en-US" sz="1250" b="1" dirty="0">
                <a:solidFill>
                  <a:srgbClr val="F59E0B"/>
                </a:solidFill>
              </a:rPr>
              <a:t>À compléter avec votre cas réel : nom du dataset, nombre de lignes, colonnes utilisées, nom exact de la cible.</a:t>
            </a:r>
            <a:endParaRPr lang="en-US" sz="125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Prétraitement des données</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Rendre les données compatibles avec la descente de gradient</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Shape 4"/>
          <p:cNvSpPr/>
          <p:nvPr/>
        </p:nvSpPr>
        <p:spPr>
          <a:xfrm>
            <a:off x="777240" y="1280160"/>
            <a:ext cx="10561320" cy="713232"/>
          </a:xfrm>
          <a:prstGeom prst="roundRect">
            <a:avLst/>
          </a:prstGeom>
          <a:solidFill>
            <a:srgbClr val="EEF6FF"/>
          </a:solidFill>
          <a:ln w="10160">
            <a:solidFill>
              <a:srgbClr val="CBD5E1"/>
            </a:solidFill>
            <a:prstDash val="solid"/>
          </a:ln>
        </p:spPr>
        <p:txBody>
          <a:bodyPr/>
          <a:lstStyle/>
          <a:p>
            <a:endParaRPr lang="fr-FR"/>
          </a:p>
        </p:txBody>
      </p:sp>
      <p:sp>
        <p:nvSpPr>
          <p:cNvPr id="7" name="Shape 5"/>
          <p:cNvSpPr/>
          <p:nvPr/>
        </p:nvSpPr>
        <p:spPr>
          <a:xfrm>
            <a:off x="1005840" y="1463040"/>
            <a:ext cx="347472" cy="347472"/>
          </a:xfrm>
          <a:prstGeom prst="ellipse">
            <a:avLst/>
          </a:prstGeom>
          <a:solidFill>
            <a:srgbClr val="1D4ED8"/>
          </a:solidFill>
          <a:ln w="12700">
            <a:solidFill>
              <a:srgbClr val="1D4ED8"/>
            </a:solidFill>
            <a:prstDash val="solid"/>
          </a:ln>
        </p:spPr>
        <p:txBody>
          <a:bodyPr/>
          <a:lstStyle/>
          <a:p>
            <a:endParaRPr lang="fr-FR"/>
          </a:p>
        </p:txBody>
      </p:sp>
      <p:sp>
        <p:nvSpPr>
          <p:cNvPr id="8" name="Text 6"/>
          <p:cNvSpPr/>
          <p:nvPr/>
        </p:nvSpPr>
        <p:spPr>
          <a:xfrm>
            <a:off x="1005840" y="1531620"/>
            <a:ext cx="347472" cy="10972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1508760" y="1435608"/>
            <a:ext cx="2194560" cy="228600"/>
          </a:xfrm>
          <a:prstGeom prst="rect">
            <a:avLst/>
          </a:prstGeom>
          <a:noFill/>
          <a:ln/>
        </p:spPr>
        <p:txBody>
          <a:bodyPr wrap="square" lIns="0" tIns="0" rIns="0" bIns="0" rtlCol="0" anchor="ctr"/>
          <a:lstStyle/>
          <a:p>
            <a:pPr marL="0" indent="0">
              <a:buNone/>
            </a:pPr>
            <a:r>
              <a:rPr lang="en-US" sz="1450" b="1" dirty="0">
                <a:solidFill>
                  <a:srgbClr val="0F172A"/>
                </a:solidFill>
              </a:rPr>
              <a:t>Nettoyage</a:t>
            </a:r>
            <a:endParaRPr lang="en-US" sz="1450" dirty="0"/>
          </a:p>
        </p:txBody>
      </p:sp>
      <p:sp>
        <p:nvSpPr>
          <p:cNvPr id="10" name="Text 8"/>
          <p:cNvSpPr/>
          <p:nvPr/>
        </p:nvSpPr>
        <p:spPr>
          <a:xfrm>
            <a:off x="4160520" y="1463040"/>
            <a:ext cx="6629400" cy="237744"/>
          </a:xfrm>
          <a:prstGeom prst="rect">
            <a:avLst/>
          </a:prstGeom>
          <a:noFill/>
          <a:ln/>
        </p:spPr>
        <p:txBody>
          <a:bodyPr wrap="square" lIns="0" tIns="0" rIns="0" bIns="0" rtlCol="0" anchor="ctr"/>
          <a:lstStyle/>
          <a:p>
            <a:pPr marL="0" indent="0">
              <a:buNone/>
            </a:pPr>
            <a:r>
              <a:rPr lang="en-US" sz="1250" dirty="0">
                <a:solidFill>
                  <a:srgbClr val="475569"/>
                </a:solidFill>
              </a:rPr>
              <a:t>Retirer ou corriger les valeurs manquantes et incohérentes.</a:t>
            </a:r>
            <a:endParaRPr lang="en-US" sz="1250" dirty="0"/>
          </a:p>
        </p:txBody>
      </p:sp>
      <p:sp>
        <p:nvSpPr>
          <p:cNvPr id="11" name="Shape 9"/>
          <p:cNvSpPr/>
          <p:nvPr/>
        </p:nvSpPr>
        <p:spPr>
          <a:xfrm>
            <a:off x="777240" y="2331720"/>
            <a:ext cx="10561320" cy="713232"/>
          </a:xfrm>
          <a:prstGeom prst="roundRect">
            <a:avLst/>
          </a:prstGeom>
          <a:solidFill>
            <a:srgbClr val="FFFFFF"/>
          </a:solidFill>
          <a:ln w="10160">
            <a:solidFill>
              <a:srgbClr val="CBD5E1"/>
            </a:solidFill>
            <a:prstDash val="solid"/>
          </a:ln>
        </p:spPr>
        <p:txBody>
          <a:bodyPr/>
          <a:lstStyle/>
          <a:p>
            <a:endParaRPr lang="fr-FR"/>
          </a:p>
        </p:txBody>
      </p:sp>
      <p:sp>
        <p:nvSpPr>
          <p:cNvPr id="12" name="Shape 10"/>
          <p:cNvSpPr/>
          <p:nvPr/>
        </p:nvSpPr>
        <p:spPr>
          <a:xfrm>
            <a:off x="1005840" y="2514600"/>
            <a:ext cx="347472" cy="347472"/>
          </a:xfrm>
          <a:prstGeom prst="ellipse">
            <a:avLst/>
          </a:prstGeom>
          <a:solidFill>
            <a:srgbClr val="06B6D4"/>
          </a:solidFill>
          <a:ln w="12700">
            <a:solidFill>
              <a:srgbClr val="06B6D4"/>
            </a:solidFill>
            <a:prstDash val="solid"/>
          </a:ln>
        </p:spPr>
        <p:txBody>
          <a:bodyPr/>
          <a:lstStyle/>
          <a:p>
            <a:endParaRPr lang="fr-FR"/>
          </a:p>
        </p:txBody>
      </p:sp>
      <p:sp>
        <p:nvSpPr>
          <p:cNvPr id="13" name="Text 11"/>
          <p:cNvSpPr/>
          <p:nvPr/>
        </p:nvSpPr>
        <p:spPr>
          <a:xfrm>
            <a:off x="1005840" y="2583180"/>
            <a:ext cx="347472" cy="10972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4" name="Text 12"/>
          <p:cNvSpPr/>
          <p:nvPr/>
        </p:nvSpPr>
        <p:spPr>
          <a:xfrm>
            <a:off x="1508760" y="2487168"/>
            <a:ext cx="2194560" cy="228600"/>
          </a:xfrm>
          <a:prstGeom prst="rect">
            <a:avLst/>
          </a:prstGeom>
          <a:noFill/>
          <a:ln/>
        </p:spPr>
        <p:txBody>
          <a:bodyPr wrap="square" lIns="0" tIns="0" rIns="0" bIns="0" rtlCol="0" anchor="ctr"/>
          <a:lstStyle/>
          <a:p>
            <a:pPr marL="0" indent="0">
              <a:buNone/>
            </a:pPr>
            <a:r>
              <a:rPr lang="en-US" sz="1450" b="1" dirty="0">
                <a:solidFill>
                  <a:srgbClr val="0F172A"/>
                </a:solidFill>
              </a:rPr>
              <a:t>Encodage</a:t>
            </a:r>
            <a:endParaRPr lang="en-US" sz="1450" dirty="0"/>
          </a:p>
        </p:txBody>
      </p:sp>
      <p:sp>
        <p:nvSpPr>
          <p:cNvPr id="15" name="Text 13"/>
          <p:cNvSpPr/>
          <p:nvPr/>
        </p:nvSpPr>
        <p:spPr>
          <a:xfrm>
            <a:off x="4160520" y="2514600"/>
            <a:ext cx="6629400" cy="237744"/>
          </a:xfrm>
          <a:prstGeom prst="rect">
            <a:avLst/>
          </a:prstGeom>
          <a:noFill/>
          <a:ln/>
        </p:spPr>
        <p:txBody>
          <a:bodyPr wrap="square" lIns="0" tIns="0" rIns="0" bIns="0" rtlCol="0" anchor="ctr"/>
          <a:lstStyle/>
          <a:p>
            <a:pPr marL="0" indent="0">
              <a:buNone/>
            </a:pPr>
            <a:r>
              <a:rPr lang="en-US" sz="1250" dirty="0">
                <a:solidFill>
                  <a:srgbClr val="475569"/>
                </a:solidFill>
              </a:rPr>
              <a:t>Transformer la cible et les variables catégorielles en valeurs numériques.</a:t>
            </a:r>
            <a:endParaRPr lang="en-US" sz="1250" dirty="0"/>
          </a:p>
        </p:txBody>
      </p:sp>
      <p:sp>
        <p:nvSpPr>
          <p:cNvPr id="16" name="Shape 14"/>
          <p:cNvSpPr/>
          <p:nvPr/>
        </p:nvSpPr>
        <p:spPr>
          <a:xfrm>
            <a:off x="777240" y="3383280"/>
            <a:ext cx="10561320" cy="713232"/>
          </a:xfrm>
          <a:prstGeom prst="roundRect">
            <a:avLst/>
          </a:prstGeom>
          <a:solidFill>
            <a:srgbClr val="EEF6FF"/>
          </a:solidFill>
          <a:ln w="10160">
            <a:solidFill>
              <a:srgbClr val="CBD5E1"/>
            </a:solidFill>
            <a:prstDash val="solid"/>
          </a:ln>
        </p:spPr>
        <p:txBody>
          <a:bodyPr/>
          <a:lstStyle/>
          <a:p>
            <a:endParaRPr lang="fr-FR"/>
          </a:p>
        </p:txBody>
      </p:sp>
      <p:sp>
        <p:nvSpPr>
          <p:cNvPr id="17" name="Shape 15"/>
          <p:cNvSpPr/>
          <p:nvPr/>
        </p:nvSpPr>
        <p:spPr>
          <a:xfrm>
            <a:off x="1005840" y="3566160"/>
            <a:ext cx="347472" cy="347472"/>
          </a:xfrm>
          <a:prstGeom prst="ellipse">
            <a:avLst/>
          </a:prstGeom>
          <a:solidFill>
            <a:srgbClr val="1D4ED8"/>
          </a:solidFill>
          <a:ln w="12700">
            <a:solidFill>
              <a:srgbClr val="1D4ED8"/>
            </a:solidFill>
            <a:prstDash val="solid"/>
          </a:ln>
        </p:spPr>
        <p:txBody>
          <a:bodyPr/>
          <a:lstStyle/>
          <a:p>
            <a:endParaRPr lang="fr-FR"/>
          </a:p>
        </p:txBody>
      </p:sp>
      <p:sp>
        <p:nvSpPr>
          <p:cNvPr id="18" name="Text 16"/>
          <p:cNvSpPr/>
          <p:nvPr/>
        </p:nvSpPr>
        <p:spPr>
          <a:xfrm>
            <a:off x="1005840" y="3634740"/>
            <a:ext cx="347472" cy="10972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9" name="Text 17"/>
          <p:cNvSpPr/>
          <p:nvPr/>
        </p:nvSpPr>
        <p:spPr>
          <a:xfrm>
            <a:off x="1508760" y="3538728"/>
            <a:ext cx="2194560" cy="228600"/>
          </a:xfrm>
          <a:prstGeom prst="rect">
            <a:avLst/>
          </a:prstGeom>
          <a:noFill/>
          <a:ln/>
        </p:spPr>
        <p:txBody>
          <a:bodyPr wrap="square" lIns="0" tIns="0" rIns="0" bIns="0" rtlCol="0" anchor="ctr"/>
          <a:lstStyle/>
          <a:p>
            <a:pPr marL="0" indent="0">
              <a:buNone/>
            </a:pPr>
            <a:r>
              <a:rPr lang="en-US" sz="1450" b="1" dirty="0">
                <a:solidFill>
                  <a:srgbClr val="0F172A"/>
                </a:solidFill>
              </a:rPr>
              <a:t>Standardisation</a:t>
            </a:r>
            <a:endParaRPr lang="en-US" sz="1450" dirty="0"/>
          </a:p>
        </p:txBody>
      </p:sp>
      <p:sp>
        <p:nvSpPr>
          <p:cNvPr id="20" name="Text 18"/>
          <p:cNvSpPr/>
          <p:nvPr/>
        </p:nvSpPr>
        <p:spPr>
          <a:xfrm>
            <a:off x="4160520" y="3566160"/>
            <a:ext cx="6629400" cy="237744"/>
          </a:xfrm>
          <a:prstGeom prst="rect">
            <a:avLst/>
          </a:prstGeom>
          <a:noFill/>
          <a:ln/>
        </p:spPr>
        <p:txBody>
          <a:bodyPr wrap="square" lIns="0" tIns="0" rIns="0" bIns="0" rtlCol="0" anchor="ctr"/>
          <a:lstStyle/>
          <a:p>
            <a:pPr marL="0" indent="0">
              <a:buNone/>
            </a:pPr>
            <a:r>
              <a:rPr lang="en-US" sz="1250" dirty="0">
                <a:solidFill>
                  <a:srgbClr val="475569"/>
                </a:solidFill>
              </a:rPr>
              <a:t>Mettre les variables à une échelle comparable pour stabiliser l’apprentissage.</a:t>
            </a:r>
            <a:endParaRPr lang="en-US" sz="1250" dirty="0"/>
          </a:p>
        </p:txBody>
      </p:sp>
      <p:sp>
        <p:nvSpPr>
          <p:cNvPr id="21" name="Shape 19"/>
          <p:cNvSpPr/>
          <p:nvPr/>
        </p:nvSpPr>
        <p:spPr>
          <a:xfrm>
            <a:off x="777240" y="4434840"/>
            <a:ext cx="10561320" cy="713232"/>
          </a:xfrm>
          <a:prstGeom prst="roundRect">
            <a:avLst/>
          </a:prstGeom>
          <a:solidFill>
            <a:srgbClr val="FFFFFF"/>
          </a:solidFill>
          <a:ln w="10160">
            <a:solidFill>
              <a:srgbClr val="CBD5E1"/>
            </a:solidFill>
            <a:prstDash val="solid"/>
          </a:ln>
        </p:spPr>
        <p:txBody>
          <a:bodyPr/>
          <a:lstStyle/>
          <a:p>
            <a:endParaRPr lang="fr-FR"/>
          </a:p>
        </p:txBody>
      </p:sp>
      <p:sp>
        <p:nvSpPr>
          <p:cNvPr id="22" name="Shape 20"/>
          <p:cNvSpPr/>
          <p:nvPr/>
        </p:nvSpPr>
        <p:spPr>
          <a:xfrm>
            <a:off x="1005840" y="4617720"/>
            <a:ext cx="347472" cy="347472"/>
          </a:xfrm>
          <a:prstGeom prst="ellipse">
            <a:avLst/>
          </a:prstGeom>
          <a:solidFill>
            <a:srgbClr val="06B6D4"/>
          </a:solidFill>
          <a:ln w="12700">
            <a:solidFill>
              <a:srgbClr val="06B6D4"/>
            </a:solidFill>
            <a:prstDash val="solid"/>
          </a:ln>
        </p:spPr>
        <p:txBody>
          <a:bodyPr/>
          <a:lstStyle/>
          <a:p>
            <a:endParaRPr lang="fr-FR"/>
          </a:p>
        </p:txBody>
      </p:sp>
      <p:sp>
        <p:nvSpPr>
          <p:cNvPr id="23" name="Text 21"/>
          <p:cNvSpPr/>
          <p:nvPr/>
        </p:nvSpPr>
        <p:spPr>
          <a:xfrm>
            <a:off x="1005840" y="4686300"/>
            <a:ext cx="347472" cy="109728"/>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4" name="Text 22"/>
          <p:cNvSpPr/>
          <p:nvPr/>
        </p:nvSpPr>
        <p:spPr>
          <a:xfrm>
            <a:off x="1508760" y="4590288"/>
            <a:ext cx="2194560" cy="228600"/>
          </a:xfrm>
          <a:prstGeom prst="rect">
            <a:avLst/>
          </a:prstGeom>
          <a:noFill/>
          <a:ln/>
        </p:spPr>
        <p:txBody>
          <a:bodyPr wrap="square" lIns="0" tIns="0" rIns="0" bIns="0" rtlCol="0" anchor="ctr"/>
          <a:lstStyle/>
          <a:p>
            <a:pPr marL="0" indent="0">
              <a:buNone/>
            </a:pPr>
            <a:r>
              <a:rPr lang="en-US" sz="1450" b="1" dirty="0">
                <a:solidFill>
                  <a:srgbClr val="0F172A"/>
                </a:solidFill>
              </a:rPr>
              <a:t>Découpage</a:t>
            </a:r>
            <a:endParaRPr lang="en-US" sz="1450" dirty="0"/>
          </a:p>
        </p:txBody>
      </p:sp>
      <p:sp>
        <p:nvSpPr>
          <p:cNvPr id="25" name="Text 23"/>
          <p:cNvSpPr/>
          <p:nvPr/>
        </p:nvSpPr>
        <p:spPr>
          <a:xfrm>
            <a:off x="4160520" y="4617720"/>
            <a:ext cx="6629400" cy="237744"/>
          </a:xfrm>
          <a:prstGeom prst="rect">
            <a:avLst/>
          </a:prstGeom>
          <a:noFill/>
          <a:ln/>
        </p:spPr>
        <p:txBody>
          <a:bodyPr wrap="square" lIns="0" tIns="0" rIns="0" bIns="0" rtlCol="0" anchor="ctr"/>
          <a:lstStyle/>
          <a:p>
            <a:pPr marL="0" indent="0">
              <a:buNone/>
            </a:pPr>
            <a:r>
              <a:rPr lang="en-US" sz="1250" dirty="0">
                <a:solidFill>
                  <a:srgbClr val="475569"/>
                </a:solidFill>
              </a:rPr>
              <a:t>Séparer les données en train, validation et test.</a:t>
            </a:r>
            <a:endParaRPr lang="en-US" sz="1250" dirty="0"/>
          </a:p>
        </p:txBody>
      </p:sp>
      <p:sp>
        <p:nvSpPr>
          <p:cNvPr id="26" name="Text 24"/>
          <p:cNvSpPr/>
          <p:nvPr/>
        </p:nvSpPr>
        <p:spPr>
          <a:xfrm>
            <a:off x="868680" y="5486400"/>
            <a:ext cx="3108960" cy="256032"/>
          </a:xfrm>
          <a:prstGeom prst="rect">
            <a:avLst/>
          </a:prstGeom>
          <a:noFill/>
          <a:ln/>
        </p:spPr>
        <p:txBody>
          <a:bodyPr wrap="square" lIns="0" tIns="0" rIns="0" bIns="0" rtlCol="0" anchor="ctr"/>
          <a:lstStyle/>
          <a:p>
            <a:pPr marL="0" indent="0">
              <a:buNone/>
            </a:pPr>
            <a:r>
              <a:rPr lang="en-US" sz="1500" b="1" dirty="0">
                <a:solidFill>
                  <a:srgbClr val="0F172A"/>
                </a:solidFill>
              </a:rPr>
              <a:t>Pourquoi la standardisation est importante ?</a:t>
            </a:r>
            <a:endParaRPr lang="en-US" sz="1500" dirty="0"/>
          </a:p>
        </p:txBody>
      </p:sp>
      <p:sp>
        <p:nvSpPr>
          <p:cNvPr id="27" name="Text 25"/>
          <p:cNvSpPr/>
          <p:nvPr/>
        </p:nvSpPr>
        <p:spPr>
          <a:xfrm>
            <a:off x="4480560" y="5486400"/>
            <a:ext cx="6675120" cy="411480"/>
          </a:xfrm>
          <a:prstGeom prst="rect">
            <a:avLst/>
          </a:prstGeom>
          <a:noFill/>
          <a:ln/>
        </p:spPr>
        <p:txBody>
          <a:bodyPr wrap="square" lIns="0" tIns="0" rIns="0" bIns="0" rtlCol="0" anchor="ctr">
            <a:normAutofit/>
          </a:bodyPr>
          <a:lstStyle/>
          <a:p>
            <a:pPr marL="0" indent="0">
              <a:buNone/>
            </a:pPr>
            <a:r>
              <a:rPr lang="en-US" sz="1150" dirty="0">
                <a:solidFill>
                  <a:srgbClr val="475569"/>
                </a:solidFill>
              </a:rPr>
              <a:t>Si une variable varie entre 0 et 1000 et une autre entre 0 et 1, leurs gradients n’ont pas la même échelle. La descente de gradient peut devenir lente ou instable.</a:t>
            </a:r>
            <a:endParaRPr lang="en-US" sz="1150" dirty="0"/>
          </a:p>
        </p:txBody>
      </p:sp>
      <p:sp>
        <p:nvSpPr>
          <p:cNvPr id="28"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Modèle mathématique</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Une combinaison linéaire transformée en probabilité</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Text 4"/>
          <p:cNvSpPr/>
          <p:nvPr/>
        </p:nvSpPr>
        <p:spPr>
          <a:xfrm>
            <a:off x="777240" y="1234440"/>
            <a:ext cx="5120640" cy="228600"/>
          </a:xfrm>
          <a:prstGeom prst="rect">
            <a:avLst/>
          </a:prstGeom>
          <a:noFill/>
          <a:ln/>
        </p:spPr>
        <p:txBody>
          <a:bodyPr wrap="square" lIns="0" tIns="0" rIns="0" bIns="0" rtlCol="0" anchor="ctr"/>
          <a:lstStyle/>
          <a:p>
            <a:pPr marL="0" indent="0">
              <a:buNone/>
            </a:pPr>
            <a:r>
              <a:rPr lang="en-US" sz="1500" b="1" dirty="0">
                <a:solidFill>
                  <a:srgbClr val="0F172A"/>
                </a:solidFill>
              </a:rPr>
              <a:t>Pour chaque observation x, on calcule d’abord un score linéaire :</a:t>
            </a:r>
            <a:endParaRPr lang="en-US" sz="15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1691640"/>
            <a:ext cx="3108960" cy="640080"/>
          </a:xfrm>
          <a:prstGeom prst="rect">
            <a:avLst/>
          </a:prstGeom>
        </p:spPr>
      </p:pic>
      <p:sp>
        <p:nvSpPr>
          <p:cNvPr id="8" name="Text 5"/>
          <p:cNvSpPr/>
          <p:nvPr/>
        </p:nvSpPr>
        <p:spPr>
          <a:xfrm>
            <a:off x="777240" y="2606040"/>
            <a:ext cx="5120640" cy="228600"/>
          </a:xfrm>
          <a:prstGeom prst="rect">
            <a:avLst/>
          </a:prstGeom>
          <a:noFill/>
          <a:ln/>
        </p:spPr>
        <p:txBody>
          <a:bodyPr wrap="square" lIns="0" tIns="0" rIns="0" bIns="0" rtlCol="0" anchor="ctr"/>
          <a:lstStyle/>
          <a:p>
            <a:pPr marL="0" indent="0">
              <a:buNone/>
            </a:pPr>
            <a:r>
              <a:rPr lang="en-US" sz="1500" b="1" dirty="0">
                <a:solidFill>
                  <a:srgbClr val="0F172A"/>
                </a:solidFill>
              </a:rPr>
              <a:t>Puis ce score est transformé par la fonction sigmoïde :</a:t>
            </a:r>
            <a:endParaRPr lang="en-US" sz="15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4400" y="3063240"/>
            <a:ext cx="4389120" cy="731520"/>
          </a:xfrm>
          <a:prstGeom prst="rect">
            <a:avLst/>
          </a:prstGeom>
        </p:spPr>
      </p:pic>
      <p:sp>
        <p:nvSpPr>
          <p:cNvPr id="10" name="Shape 6"/>
          <p:cNvSpPr/>
          <p:nvPr/>
        </p:nvSpPr>
        <p:spPr>
          <a:xfrm>
            <a:off x="6400800" y="1234440"/>
            <a:ext cx="4434840" cy="2743200"/>
          </a:xfrm>
          <a:prstGeom prst="roundRect">
            <a:avLst/>
          </a:prstGeom>
          <a:solidFill>
            <a:srgbClr val="FFFFFF"/>
          </a:solidFill>
          <a:ln w="12700">
            <a:solidFill>
              <a:srgbClr val="1D4ED8"/>
            </a:solidFill>
            <a:prstDash val="solid"/>
          </a:ln>
        </p:spPr>
        <p:txBody>
          <a:bodyPr/>
          <a:lstStyle/>
          <a:p>
            <a:endParaRPr lang="fr-FR"/>
          </a:p>
        </p:txBody>
      </p:sp>
      <p:sp>
        <p:nvSpPr>
          <p:cNvPr id="11" name="Text 7"/>
          <p:cNvSpPr/>
          <p:nvPr/>
        </p:nvSpPr>
        <p:spPr>
          <a:xfrm>
            <a:off x="6629400" y="1481328"/>
            <a:ext cx="3840480" cy="274320"/>
          </a:xfrm>
          <a:prstGeom prst="rect">
            <a:avLst/>
          </a:prstGeom>
          <a:noFill/>
          <a:ln/>
        </p:spPr>
        <p:txBody>
          <a:bodyPr wrap="square" lIns="0" tIns="0" rIns="0" bIns="0" rtlCol="0" anchor="ctr"/>
          <a:lstStyle/>
          <a:p>
            <a:pPr marL="0" indent="0">
              <a:buNone/>
            </a:pPr>
            <a:r>
              <a:rPr lang="en-US" sz="1800" b="1" dirty="0">
                <a:solidFill>
                  <a:srgbClr val="1D4ED8"/>
                </a:solidFill>
              </a:rPr>
              <a:t>Interprétation</a:t>
            </a:r>
            <a:endParaRPr lang="en-US" sz="1800" dirty="0"/>
          </a:p>
        </p:txBody>
      </p:sp>
      <p:sp>
        <p:nvSpPr>
          <p:cNvPr id="12" name="Text 8"/>
          <p:cNvSpPr/>
          <p:nvPr/>
        </p:nvSpPr>
        <p:spPr>
          <a:xfrm>
            <a:off x="6656832" y="1938528"/>
            <a:ext cx="3840480" cy="292608"/>
          </a:xfrm>
          <a:prstGeom prst="rect">
            <a:avLst/>
          </a:prstGeom>
          <a:noFill/>
          <a:ln/>
        </p:spPr>
        <p:txBody>
          <a:bodyPr wrap="square" lIns="0" tIns="0" rIns="0" bIns="0" rtlCol="0" anchor="ctr">
            <a:normAutofit/>
          </a:bodyPr>
          <a:lstStyle/>
          <a:p>
            <a:pPr marL="0" indent="0">
              <a:buNone/>
            </a:pPr>
            <a:r>
              <a:rPr lang="en-US" sz="1200" b="1" dirty="0">
                <a:solidFill>
                  <a:srgbClr val="1D4ED8"/>
                </a:solidFill>
              </a:rPr>
              <a:t>• </a:t>
            </a:r>
            <a:r>
              <a:rPr lang="en-US" sz="1200" dirty="0">
                <a:solidFill>
                  <a:srgbClr val="0F172A"/>
                </a:solidFill>
              </a:rPr>
              <a:t>w contient un poids par variable.</a:t>
            </a:r>
            <a:endParaRPr lang="en-US" sz="1200" dirty="0"/>
          </a:p>
        </p:txBody>
      </p:sp>
      <p:sp>
        <p:nvSpPr>
          <p:cNvPr id="13" name="Text 9"/>
          <p:cNvSpPr/>
          <p:nvPr/>
        </p:nvSpPr>
        <p:spPr>
          <a:xfrm>
            <a:off x="6656832" y="2395728"/>
            <a:ext cx="3840480" cy="292608"/>
          </a:xfrm>
          <a:prstGeom prst="rect">
            <a:avLst/>
          </a:prstGeom>
          <a:noFill/>
          <a:ln/>
        </p:spPr>
        <p:txBody>
          <a:bodyPr wrap="square" lIns="0" tIns="0" rIns="0" bIns="0" rtlCol="0" anchor="ctr">
            <a:normAutofit/>
          </a:bodyPr>
          <a:lstStyle/>
          <a:p>
            <a:pPr marL="0" indent="0">
              <a:buNone/>
            </a:pPr>
            <a:r>
              <a:rPr lang="en-US" sz="1200" b="1" dirty="0">
                <a:solidFill>
                  <a:srgbClr val="1D4ED8"/>
                </a:solidFill>
              </a:rPr>
              <a:t>• </a:t>
            </a:r>
            <a:r>
              <a:rPr lang="en-US" sz="1200" dirty="0">
                <a:solidFill>
                  <a:srgbClr val="0F172A"/>
                </a:solidFill>
              </a:rPr>
              <a:t>b est le biais : il décale la frontière de décision.</a:t>
            </a:r>
            <a:endParaRPr lang="en-US" sz="1200" dirty="0"/>
          </a:p>
        </p:txBody>
      </p:sp>
      <p:sp>
        <p:nvSpPr>
          <p:cNvPr id="14" name="Text 10"/>
          <p:cNvSpPr/>
          <p:nvPr/>
        </p:nvSpPr>
        <p:spPr>
          <a:xfrm>
            <a:off x="6656832" y="2852928"/>
            <a:ext cx="3840480" cy="292608"/>
          </a:xfrm>
          <a:prstGeom prst="rect">
            <a:avLst/>
          </a:prstGeom>
          <a:noFill/>
          <a:ln/>
        </p:spPr>
        <p:txBody>
          <a:bodyPr wrap="square" lIns="0" tIns="0" rIns="0" bIns="0" rtlCol="0" anchor="ctr">
            <a:normAutofit/>
          </a:bodyPr>
          <a:lstStyle/>
          <a:p>
            <a:pPr marL="0" indent="0">
              <a:buNone/>
            </a:pPr>
            <a:r>
              <a:rPr lang="en-US" sz="1200" b="1" dirty="0">
                <a:solidFill>
                  <a:srgbClr val="1D4ED8"/>
                </a:solidFill>
              </a:rPr>
              <a:t>• </a:t>
            </a:r>
            <a:r>
              <a:rPr lang="en-US" sz="1200" dirty="0">
                <a:solidFill>
                  <a:srgbClr val="0F172A"/>
                </a:solidFill>
              </a:rPr>
              <a:t>ŷ est une probabilité entre 0 et 1.</a:t>
            </a:r>
            <a:endParaRPr lang="en-US" sz="1200" dirty="0"/>
          </a:p>
        </p:txBody>
      </p:sp>
      <p:sp>
        <p:nvSpPr>
          <p:cNvPr id="15" name="Text 11"/>
          <p:cNvSpPr/>
          <p:nvPr/>
        </p:nvSpPr>
        <p:spPr>
          <a:xfrm>
            <a:off x="960120" y="4892040"/>
            <a:ext cx="10149840" cy="384048"/>
          </a:xfrm>
          <a:prstGeom prst="rect">
            <a:avLst/>
          </a:prstGeom>
          <a:noFill/>
          <a:ln/>
        </p:spPr>
        <p:txBody>
          <a:bodyPr wrap="square" lIns="0" tIns="0" rIns="0" bIns="0" rtlCol="0" anchor="ctr"/>
          <a:lstStyle/>
          <a:p>
            <a:pPr marL="0" indent="0" algn="ctr">
              <a:buNone/>
            </a:pPr>
            <a:r>
              <a:rPr lang="en-US" sz="1800" b="1" dirty="0">
                <a:solidFill>
                  <a:srgbClr val="0F172A"/>
                </a:solidFill>
              </a:rPr>
              <a:t>Décision finale : si ŷ ≥ 0,5, on prédit la classe 1 ; sinon la classe 0.</a:t>
            </a:r>
            <a:endParaRPr lang="en-US" sz="180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Fonction sigmoïde</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Le passage du score brut à une probabilité</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graphicFrame>
        <p:nvGraphicFramePr>
          <p:cNvPr id="6" name="Chart 0"/>
          <p:cNvGraphicFramePr/>
          <p:nvPr/>
        </p:nvGraphicFramePr>
        <p:xfrm>
          <a:off x="822960" y="1234440"/>
          <a:ext cx="585216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315200" y="1325880"/>
            <a:ext cx="3840480" cy="274320"/>
          </a:xfrm>
          <a:prstGeom prst="rect">
            <a:avLst/>
          </a:prstGeom>
          <a:noFill/>
          <a:ln/>
        </p:spPr>
        <p:txBody>
          <a:bodyPr wrap="square" lIns="0" tIns="0" rIns="0" bIns="0" rtlCol="0" anchor="ctr"/>
          <a:lstStyle/>
          <a:p>
            <a:pPr marL="0" indent="0">
              <a:buNone/>
            </a:pPr>
            <a:r>
              <a:rPr lang="en-US" sz="1800" b="1" dirty="0">
                <a:solidFill>
                  <a:srgbClr val="0F172A"/>
                </a:solidFill>
              </a:rPr>
              <a:t>Lecture de la courbe</a:t>
            </a:r>
            <a:endParaRPr lang="en-US" sz="1800" dirty="0"/>
          </a:p>
        </p:txBody>
      </p:sp>
      <p:sp>
        <p:nvSpPr>
          <p:cNvPr id="8" name="Text 5"/>
          <p:cNvSpPr/>
          <p:nvPr/>
        </p:nvSpPr>
        <p:spPr>
          <a:xfrm>
            <a:off x="7315200" y="1828800"/>
            <a:ext cx="3840480" cy="292608"/>
          </a:xfrm>
          <a:prstGeom prst="rect">
            <a:avLst/>
          </a:prstGeom>
          <a:noFill/>
          <a:ln/>
        </p:spPr>
        <p:txBody>
          <a:bodyPr wrap="square" lIns="0" tIns="0" rIns="0" bIns="0" rtlCol="0" anchor="ctr">
            <a:normAutofit/>
          </a:bodyPr>
          <a:lstStyle/>
          <a:p>
            <a:pPr marL="0" indent="0">
              <a:buNone/>
            </a:pPr>
            <a:r>
              <a:rPr lang="en-US" sz="1230" b="1" dirty="0">
                <a:solidFill>
                  <a:srgbClr val="1D4ED8"/>
                </a:solidFill>
              </a:rPr>
              <a:t>• </a:t>
            </a:r>
            <a:r>
              <a:rPr lang="en-US" sz="1230" dirty="0">
                <a:solidFill>
                  <a:srgbClr val="0F172A"/>
                </a:solidFill>
              </a:rPr>
              <a:t>Si z est très négatif, σ(z) est proche de 0.</a:t>
            </a:r>
            <a:endParaRPr lang="en-US" sz="1230" dirty="0"/>
          </a:p>
        </p:txBody>
      </p:sp>
      <p:sp>
        <p:nvSpPr>
          <p:cNvPr id="9" name="Text 6"/>
          <p:cNvSpPr/>
          <p:nvPr/>
        </p:nvSpPr>
        <p:spPr>
          <a:xfrm>
            <a:off x="7315200" y="2331720"/>
            <a:ext cx="3840480" cy="292608"/>
          </a:xfrm>
          <a:prstGeom prst="rect">
            <a:avLst/>
          </a:prstGeom>
          <a:noFill/>
          <a:ln/>
        </p:spPr>
        <p:txBody>
          <a:bodyPr wrap="square" lIns="0" tIns="0" rIns="0" bIns="0" rtlCol="0" anchor="ctr">
            <a:normAutofit/>
          </a:bodyPr>
          <a:lstStyle/>
          <a:p>
            <a:pPr marL="0" indent="0">
              <a:buNone/>
            </a:pPr>
            <a:r>
              <a:rPr lang="en-US" sz="1230" b="1" dirty="0">
                <a:solidFill>
                  <a:srgbClr val="1D4ED8"/>
                </a:solidFill>
              </a:rPr>
              <a:t>• </a:t>
            </a:r>
            <a:r>
              <a:rPr lang="en-US" sz="1230" dirty="0">
                <a:solidFill>
                  <a:srgbClr val="0F172A"/>
                </a:solidFill>
              </a:rPr>
              <a:t>Si z = 0, la probabilité vaut 0,5.</a:t>
            </a:r>
            <a:endParaRPr lang="en-US" sz="1230" dirty="0"/>
          </a:p>
        </p:txBody>
      </p:sp>
      <p:sp>
        <p:nvSpPr>
          <p:cNvPr id="10" name="Text 7"/>
          <p:cNvSpPr/>
          <p:nvPr/>
        </p:nvSpPr>
        <p:spPr>
          <a:xfrm>
            <a:off x="7315200" y="2834640"/>
            <a:ext cx="3840480" cy="292608"/>
          </a:xfrm>
          <a:prstGeom prst="rect">
            <a:avLst/>
          </a:prstGeom>
          <a:noFill/>
          <a:ln/>
        </p:spPr>
        <p:txBody>
          <a:bodyPr wrap="square" lIns="0" tIns="0" rIns="0" bIns="0" rtlCol="0" anchor="ctr">
            <a:normAutofit/>
          </a:bodyPr>
          <a:lstStyle/>
          <a:p>
            <a:pPr marL="0" indent="0">
              <a:buNone/>
            </a:pPr>
            <a:r>
              <a:rPr lang="en-US" sz="1230" b="1" dirty="0">
                <a:solidFill>
                  <a:srgbClr val="1D4ED8"/>
                </a:solidFill>
              </a:rPr>
              <a:t>• </a:t>
            </a:r>
            <a:r>
              <a:rPr lang="en-US" sz="1230" dirty="0">
                <a:solidFill>
                  <a:srgbClr val="0F172A"/>
                </a:solidFill>
              </a:rPr>
              <a:t>Si z est très positif, σ(z) est proche de 1.</a:t>
            </a:r>
            <a:endParaRPr lang="en-US" sz="1230" dirty="0"/>
          </a:p>
        </p:txBody>
      </p:sp>
      <p:sp>
        <p:nvSpPr>
          <p:cNvPr id="11" name="Shape 8"/>
          <p:cNvSpPr/>
          <p:nvPr/>
        </p:nvSpPr>
        <p:spPr>
          <a:xfrm>
            <a:off x="7315200" y="3794760"/>
            <a:ext cx="3657600" cy="1051560"/>
          </a:xfrm>
          <a:prstGeom prst="roundRect">
            <a:avLst/>
          </a:prstGeom>
          <a:solidFill>
            <a:srgbClr val="DBEAFE"/>
          </a:solidFill>
          <a:ln w="12700">
            <a:solidFill>
              <a:srgbClr val="1D4ED8"/>
            </a:solidFill>
            <a:prstDash val="solid"/>
          </a:ln>
        </p:spPr>
        <p:txBody>
          <a:bodyPr/>
          <a:lstStyle/>
          <a:p>
            <a:endParaRPr lang="fr-FR"/>
          </a:p>
        </p:txBody>
      </p:sp>
      <p:sp>
        <p:nvSpPr>
          <p:cNvPr id="12" name="Text 9"/>
          <p:cNvSpPr/>
          <p:nvPr/>
        </p:nvSpPr>
        <p:spPr>
          <a:xfrm>
            <a:off x="7543800" y="4069080"/>
            <a:ext cx="3200400" cy="41148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rPr>
              <a:t>Elle permet donc de relier un modèle linéaire à une probabilité interprétable.</a:t>
            </a:r>
            <a:endParaRPr lang="en-US" sz="130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Fonction de coût : Log-Loss</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Mesurer l’erreur sur des probabilités</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2960" y="1325880"/>
            <a:ext cx="6492240" cy="822960"/>
          </a:xfrm>
          <a:prstGeom prst="rect">
            <a:avLst/>
          </a:prstGeom>
        </p:spPr>
      </p:pic>
      <p:sp>
        <p:nvSpPr>
          <p:cNvPr id="7" name="Text 4"/>
          <p:cNvSpPr/>
          <p:nvPr/>
        </p:nvSpPr>
        <p:spPr>
          <a:xfrm>
            <a:off x="1005840" y="2331720"/>
            <a:ext cx="5852160" cy="228600"/>
          </a:xfrm>
          <a:prstGeom prst="rect">
            <a:avLst/>
          </a:prstGeom>
          <a:noFill/>
          <a:ln/>
        </p:spPr>
        <p:txBody>
          <a:bodyPr wrap="square" lIns="0" tIns="0" rIns="0" bIns="0" rtlCol="0" anchor="ctr"/>
          <a:lstStyle/>
          <a:p>
            <a:pPr marL="0" indent="0">
              <a:buNone/>
            </a:pPr>
            <a:r>
              <a:rPr lang="en-US" sz="1250" dirty="0">
                <a:solidFill>
                  <a:srgbClr val="475569"/>
                </a:solidFill>
              </a:rPr>
              <a:t>aᵢ est la probabilité prédite pour l’observation i.</a:t>
            </a:r>
            <a:endParaRPr lang="en-US" sz="1250" dirty="0"/>
          </a:p>
        </p:txBody>
      </p:sp>
      <p:sp>
        <p:nvSpPr>
          <p:cNvPr id="8" name="Shape 5"/>
          <p:cNvSpPr/>
          <p:nvPr/>
        </p:nvSpPr>
        <p:spPr>
          <a:xfrm>
            <a:off x="822960" y="3017520"/>
            <a:ext cx="3246120" cy="1005840"/>
          </a:xfrm>
          <a:prstGeom prst="roundRect">
            <a:avLst>
              <a:gd name="adj" fmla="val 7273"/>
            </a:avLst>
          </a:prstGeom>
          <a:solidFill>
            <a:srgbClr val="DCFCE7"/>
          </a:solidFill>
          <a:ln w="12700">
            <a:solidFill>
              <a:srgbClr val="10B981"/>
            </a:solidFill>
            <a:prstDash val="solid"/>
          </a:ln>
        </p:spPr>
        <p:txBody>
          <a:bodyPr/>
          <a:lstStyle/>
          <a:p>
            <a:endParaRPr lang="fr-FR"/>
          </a:p>
        </p:txBody>
      </p:sp>
      <p:sp>
        <p:nvSpPr>
          <p:cNvPr id="9" name="Text 6"/>
          <p:cNvSpPr/>
          <p:nvPr/>
        </p:nvSpPr>
        <p:spPr>
          <a:xfrm>
            <a:off x="987552" y="3127248"/>
            <a:ext cx="2916936" cy="228600"/>
          </a:xfrm>
          <a:prstGeom prst="rect">
            <a:avLst/>
          </a:prstGeom>
          <a:noFill/>
          <a:ln/>
        </p:spPr>
        <p:txBody>
          <a:bodyPr wrap="square" lIns="0" tIns="0" rIns="0" bIns="0" rtlCol="0" anchor="ctr"/>
          <a:lstStyle/>
          <a:p>
            <a:pPr marL="0" indent="0">
              <a:buNone/>
            </a:pPr>
            <a:r>
              <a:rPr lang="en-US" sz="1200" b="1" dirty="0">
                <a:solidFill>
                  <a:srgbClr val="0F172A"/>
                </a:solidFill>
              </a:rPr>
              <a:t>Bonne prédiction</a:t>
            </a:r>
            <a:endParaRPr lang="en-US" sz="1200" dirty="0"/>
          </a:p>
        </p:txBody>
      </p:sp>
      <p:sp>
        <p:nvSpPr>
          <p:cNvPr id="10" name="Text 7"/>
          <p:cNvSpPr/>
          <p:nvPr/>
        </p:nvSpPr>
        <p:spPr>
          <a:xfrm>
            <a:off x="987552" y="3456432"/>
            <a:ext cx="2916936" cy="41148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Si y = 1 et a est proche de 1, la perte est faible.</a:t>
            </a:r>
            <a:endParaRPr lang="en-US" sz="1050" dirty="0"/>
          </a:p>
        </p:txBody>
      </p:sp>
      <p:sp>
        <p:nvSpPr>
          <p:cNvPr id="11" name="Shape 8"/>
          <p:cNvSpPr/>
          <p:nvPr/>
        </p:nvSpPr>
        <p:spPr>
          <a:xfrm>
            <a:off x="4389120" y="3017520"/>
            <a:ext cx="3246120" cy="1005840"/>
          </a:xfrm>
          <a:prstGeom prst="roundRect">
            <a:avLst>
              <a:gd name="adj" fmla="val 7273"/>
            </a:avLst>
          </a:prstGeom>
          <a:solidFill>
            <a:srgbClr val="FEE2E2"/>
          </a:solidFill>
          <a:ln w="12700">
            <a:solidFill>
              <a:srgbClr val="EF4444"/>
            </a:solidFill>
            <a:prstDash val="solid"/>
          </a:ln>
        </p:spPr>
        <p:txBody>
          <a:bodyPr/>
          <a:lstStyle/>
          <a:p>
            <a:endParaRPr lang="fr-FR"/>
          </a:p>
        </p:txBody>
      </p:sp>
      <p:sp>
        <p:nvSpPr>
          <p:cNvPr id="12" name="Text 9"/>
          <p:cNvSpPr/>
          <p:nvPr/>
        </p:nvSpPr>
        <p:spPr>
          <a:xfrm>
            <a:off x="4553712" y="3127248"/>
            <a:ext cx="2916936" cy="228600"/>
          </a:xfrm>
          <a:prstGeom prst="rect">
            <a:avLst/>
          </a:prstGeom>
          <a:noFill/>
          <a:ln/>
        </p:spPr>
        <p:txBody>
          <a:bodyPr wrap="square" lIns="0" tIns="0" rIns="0" bIns="0" rtlCol="0" anchor="ctr"/>
          <a:lstStyle/>
          <a:p>
            <a:pPr marL="0" indent="0">
              <a:buNone/>
            </a:pPr>
            <a:r>
              <a:rPr lang="en-US" sz="1200" b="1" dirty="0">
                <a:solidFill>
                  <a:srgbClr val="0F172A"/>
                </a:solidFill>
              </a:rPr>
              <a:t>Mauvaise prédiction</a:t>
            </a:r>
            <a:endParaRPr lang="en-US" sz="1200" dirty="0"/>
          </a:p>
        </p:txBody>
      </p:sp>
      <p:sp>
        <p:nvSpPr>
          <p:cNvPr id="13" name="Text 10"/>
          <p:cNvSpPr/>
          <p:nvPr/>
        </p:nvSpPr>
        <p:spPr>
          <a:xfrm>
            <a:off x="4553712" y="3456432"/>
            <a:ext cx="2916936" cy="41148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Si y = 1 et a est proche de 0, la perte devient très grande.</a:t>
            </a:r>
            <a:endParaRPr lang="en-US" sz="1050" dirty="0"/>
          </a:p>
        </p:txBody>
      </p:sp>
      <p:sp>
        <p:nvSpPr>
          <p:cNvPr id="14" name="Shape 11"/>
          <p:cNvSpPr/>
          <p:nvPr/>
        </p:nvSpPr>
        <p:spPr>
          <a:xfrm>
            <a:off x="8138160" y="1417320"/>
            <a:ext cx="3154680" cy="2971800"/>
          </a:xfrm>
          <a:prstGeom prst="roundRect">
            <a:avLst/>
          </a:prstGeom>
          <a:solidFill>
            <a:srgbClr val="FFFFFF"/>
          </a:solidFill>
          <a:ln w="12700">
            <a:solidFill>
              <a:srgbClr val="CBD5E1"/>
            </a:solidFill>
            <a:prstDash val="solid"/>
          </a:ln>
        </p:spPr>
        <p:txBody>
          <a:bodyPr/>
          <a:lstStyle/>
          <a:p>
            <a:endParaRPr lang="fr-FR"/>
          </a:p>
        </p:txBody>
      </p:sp>
      <p:sp>
        <p:nvSpPr>
          <p:cNvPr id="15" name="Text 12"/>
          <p:cNvSpPr/>
          <p:nvPr/>
        </p:nvSpPr>
        <p:spPr>
          <a:xfrm>
            <a:off x="8412480" y="1691640"/>
            <a:ext cx="2651760" cy="228600"/>
          </a:xfrm>
          <a:prstGeom prst="rect">
            <a:avLst/>
          </a:prstGeom>
          <a:noFill/>
          <a:ln/>
        </p:spPr>
        <p:txBody>
          <a:bodyPr wrap="square" lIns="0" tIns="0" rIns="0" bIns="0" rtlCol="0" anchor="ctr"/>
          <a:lstStyle/>
          <a:p>
            <a:pPr marL="0" indent="0">
              <a:buNone/>
            </a:pPr>
            <a:r>
              <a:rPr lang="en-US" sz="1500" b="1" dirty="0">
                <a:solidFill>
                  <a:srgbClr val="0F172A"/>
                </a:solidFill>
              </a:rPr>
              <a:t>Précaution numérique</a:t>
            </a:r>
            <a:endParaRPr lang="en-US" sz="1500" dirty="0"/>
          </a:p>
        </p:txBody>
      </p:sp>
      <p:sp>
        <p:nvSpPr>
          <p:cNvPr id="16" name="Text 13"/>
          <p:cNvSpPr/>
          <p:nvPr/>
        </p:nvSpPr>
        <p:spPr>
          <a:xfrm>
            <a:off x="8412480" y="2148840"/>
            <a:ext cx="2606040" cy="594360"/>
          </a:xfrm>
          <a:prstGeom prst="rect">
            <a:avLst/>
          </a:prstGeom>
          <a:noFill/>
          <a:ln/>
        </p:spPr>
        <p:txBody>
          <a:bodyPr wrap="square" lIns="0" tIns="0" rIns="0" bIns="0" rtlCol="0" anchor="ctr">
            <a:normAutofit/>
          </a:bodyPr>
          <a:lstStyle/>
          <a:p>
            <a:pPr marL="0" indent="0">
              <a:buNone/>
            </a:pPr>
            <a:r>
              <a:rPr lang="en-US" sz="1250" dirty="0">
                <a:solidFill>
                  <a:srgbClr val="475569"/>
                </a:solidFill>
              </a:rPr>
              <a:t>On utilise un petit ε ou np.clip pour éviter log(0), qui n’est pas défini.</a:t>
            </a:r>
            <a:endParaRPr lang="en-US" sz="1250" dirty="0"/>
          </a:p>
        </p:txBody>
      </p:sp>
      <p:sp>
        <p:nvSpPr>
          <p:cNvPr id="17" name="Text 14"/>
          <p:cNvSpPr/>
          <p:nvPr/>
        </p:nvSpPr>
        <p:spPr>
          <a:xfrm>
            <a:off x="8412480" y="3063240"/>
            <a:ext cx="2606040" cy="685800"/>
          </a:xfrm>
          <a:prstGeom prst="rect">
            <a:avLst/>
          </a:prstGeom>
          <a:noFill/>
          <a:ln/>
        </p:spPr>
        <p:txBody>
          <a:bodyPr wrap="square" lIns="0" tIns="0" rIns="0" bIns="0" rtlCol="0" anchor="ctr">
            <a:normAutofit/>
          </a:bodyPr>
          <a:lstStyle/>
          <a:p>
            <a:pPr marL="0" indent="0">
              <a:buNone/>
            </a:pPr>
            <a:r>
              <a:rPr lang="en-US" sz="1250" b="1" dirty="0">
                <a:solidFill>
                  <a:srgbClr val="1D4ED8"/>
                </a:solidFill>
              </a:rPr>
              <a:t>C’est une solution simple à un problème fréquent lors de l’implémentation manuelle.</a:t>
            </a:r>
            <a:endParaRPr lang="en-US" sz="1250" dirty="0"/>
          </a:p>
        </p:txBody>
      </p:sp>
      <p:sp>
        <p:nvSpPr>
          <p:cNvPr id="18" name="Text 15"/>
          <p:cNvSpPr/>
          <p:nvPr/>
        </p:nvSpPr>
        <p:spPr>
          <a:xfrm>
            <a:off x="960120" y="5074920"/>
            <a:ext cx="10241280" cy="320040"/>
          </a:xfrm>
          <a:prstGeom prst="rect">
            <a:avLst/>
          </a:prstGeom>
          <a:noFill/>
          <a:ln/>
        </p:spPr>
        <p:txBody>
          <a:bodyPr wrap="square" lIns="0" tIns="0" rIns="0" bIns="0" rtlCol="0" anchor="ctr"/>
          <a:lstStyle/>
          <a:p>
            <a:pPr marL="0" indent="0" algn="ctr">
              <a:buNone/>
            </a:pPr>
            <a:r>
              <a:rPr lang="en-US" sz="1700" b="1" dirty="0">
                <a:solidFill>
                  <a:srgbClr val="0F172A"/>
                </a:solidFill>
              </a:rPr>
              <a:t>Objectif de l’apprentissage : trouver w et b qui minimisent J(w,b).</a:t>
            </a:r>
            <a:endParaRPr lang="en-US" sz="170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Structure de l’implémentation</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Fonctions codées manuellement dans le notebook</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Shape 4"/>
          <p:cNvSpPr/>
          <p:nvPr/>
        </p:nvSpPr>
        <p:spPr>
          <a:xfrm>
            <a:off x="731520" y="1234440"/>
            <a:ext cx="4937760" cy="914400"/>
          </a:xfrm>
          <a:prstGeom prst="roundRect">
            <a:avLst/>
          </a:prstGeom>
          <a:solidFill>
            <a:srgbClr val="DBEAFE"/>
          </a:solidFill>
          <a:ln w="12700">
            <a:solidFill>
              <a:srgbClr val="1D4ED8"/>
            </a:solidFill>
            <a:prstDash val="solid"/>
          </a:ln>
        </p:spPr>
        <p:txBody>
          <a:bodyPr/>
          <a:lstStyle/>
          <a:p>
            <a:endParaRPr lang="fr-FR"/>
          </a:p>
        </p:txBody>
      </p:sp>
      <p:sp>
        <p:nvSpPr>
          <p:cNvPr id="7" name="Text 5"/>
          <p:cNvSpPr/>
          <p:nvPr/>
        </p:nvSpPr>
        <p:spPr>
          <a:xfrm>
            <a:off x="932688" y="1371600"/>
            <a:ext cx="4526280" cy="219456"/>
          </a:xfrm>
          <a:prstGeom prst="rect">
            <a:avLst/>
          </a:prstGeom>
          <a:noFill/>
          <a:ln/>
        </p:spPr>
        <p:txBody>
          <a:bodyPr wrap="square" lIns="0" tIns="0" rIns="0" bIns="0" rtlCol="0" anchor="ctr"/>
          <a:lstStyle/>
          <a:p>
            <a:pPr marL="0" indent="0">
              <a:buNone/>
            </a:pPr>
            <a:r>
              <a:rPr lang="en-US" sz="1280" b="1" dirty="0" err="1">
                <a:solidFill>
                  <a:srgbClr val="0F172A"/>
                </a:solidFill>
                <a:latin typeface="Aptos Mono" pitchFamily="34" charset="0"/>
                <a:ea typeface="Aptos Mono" pitchFamily="34" charset="-122"/>
                <a:cs typeface="Aptos Mono" pitchFamily="34" charset="-120"/>
              </a:rPr>
              <a:t>sigmoïd</a:t>
            </a:r>
            <a:r>
              <a:rPr lang="en-US" sz="1280" b="1" dirty="0">
                <a:solidFill>
                  <a:srgbClr val="0F172A"/>
                </a:solidFill>
                <a:latin typeface="Aptos Mono" pitchFamily="34" charset="0"/>
                <a:ea typeface="Aptos Mono" pitchFamily="34" charset="-122"/>
                <a:cs typeface="Aptos Mono" pitchFamily="34" charset="-120"/>
              </a:rPr>
              <a:t>(z)</a:t>
            </a:r>
            <a:endParaRPr lang="en-US" sz="1280" dirty="0"/>
          </a:p>
        </p:txBody>
      </p:sp>
      <p:sp>
        <p:nvSpPr>
          <p:cNvPr id="8" name="Text 6"/>
          <p:cNvSpPr/>
          <p:nvPr/>
        </p:nvSpPr>
        <p:spPr>
          <a:xfrm>
            <a:off x="932688" y="1709928"/>
            <a:ext cx="4526280" cy="228600"/>
          </a:xfrm>
          <a:prstGeom prst="rect">
            <a:avLst/>
          </a:prstGeom>
          <a:noFill/>
          <a:ln/>
        </p:spPr>
        <p:txBody>
          <a:bodyPr wrap="square" lIns="0" tIns="0" rIns="0" bIns="0" rtlCol="0" anchor="ctr"/>
          <a:lstStyle/>
          <a:p>
            <a:pPr marL="0" indent="0">
              <a:buNone/>
            </a:pPr>
            <a:r>
              <a:rPr lang="en-US" sz="1080" dirty="0">
                <a:solidFill>
                  <a:srgbClr val="475569"/>
                </a:solidFill>
              </a:rPr>
              <a:t>Convertit un score en probabilité.</a:t>
            </a:r>
            <a:endParaRPr lang="en-US" sz="1080" dirty="0"/>
          </a:p>
        </p:txBody>
      </p:sp>
      <p:sp>
        <p:nvSpPr>
          <p:cNvPr id="9" name="Shape 7"/>
          <p:cNvSpPr/>
          <p:nvPr/>
        </p:nvSpPr>
        <p:spPr>
          <a:xfrm>
            <a:off x="731520" y="2651760"/>
            <a:ext cx="4937760" cy="914400"/>
          </a:xfrm>
          <a:prstGeom prst="roundRect">
            <a:avLst/>
          </a:prstGeom>
          <a:solidFill>
            <a:srgbClr val="DBEAFE"/>
          </a:solidFill>
          <a:ln w="12700">
            <a:solidFill>
              <a:srgbClr val="1D4ED8"/>
            </a:solidFill>
            <a:prstDash val="solid"/>
          </a:ln>
        </p:spPr>
        <p:txBody>
          <a:bodyPr/>
          <a:lstStyle/>
          <a:p>
            <a:endParaRPr lang="fr-FR"/>
          </a:p>
        </p:txBody>
      </p:sp>
      <p:sp>
        <p:nvSpPr>
          <p:cNvPr id="10" name="Text 8"/>
          <p:cNvSpPr/>
          <p:nvPr/>
        </p:nvSpPr>
        <p:spPr>
          <a:xfrm>
            <a:off x="932688" y="2788920"/>
            <a:ext cx="4526280" cy="219456"/>
          </a:xfrm>
          <a:prstGeom prst="rect">
            <a:avLst/>
          </a:prstGeom>
          <a:noFill/>
          <a:ln/>
        </p:spPr>
        <p:txBody>
          <a:bodyPr wrap="square" lIns="0" tIns="0" rIns="0" bIns="0" rtlCol="0" anchor="ctr"/>
          <a:lstStyle/>
          <a:p>
            <a:pPr marL="0" indent="0">
              <a:buNone/>
            </a:pPr>
            <a:r>
              <a:rPr lang="en-US" sz="1280" b="1" dirty="0">
                <a:solidFill>
                  <a:srgbClr val="0F172A"/>
                </a:solidFill>
                <a:latin typeface="Aptos Mono" pitchFamily="34" charset="0"/>
                <a:ea typeface="Aptos Mono" pitchFamily="34" charset="-122"/>
                <a:cs typeface="Aptos Mono" pitchFamily="34" charset="-120"/>
              </a:rPr>
              <a:t>compute_loss(y, a)</a:t>
            </a:r>
            <a:endParaRPr lang="en-US" sz="1280" dirty="0"/>
          </a:p>
        </p:txBody>
      </p:sp>
      <p:sp>
        <p:nvSpPr>
          <p:cNvPr id="11" name="Text 9"/>
          <p:cNvSpPr/>
          <p:nvPr/>
        </p:nvSpPr>
        <p:spPr>
          <a:xfrm>
            <a:off x="932688" y="3127248"/>
            <a:ext cx="4526280" cy="228600"/>
          </a:xfrm>
          <a:prstGeom prst="rect">
            <a:avLst/>
          </a:prstGeom>
          <a:noFill/>
          <a:ln/>
        </p:spPr>
        <p:txBody>
          <a:bodyPr wrap="square" lIns="0" tIns="0" rIns="0" bIns="0" rtlCol="0" anchor="ctr"/>
          <a:lstStyle/>
          <a:p>
            <a:pPr marL="0" indent="0">
              <a:buNone/>
            </a:pPr>
            <a:r>
              <a:rPr lang="en-US" sz="1080" dirty="0">
                <a:solidFill>
                  <a:srgbClr val="475569"/>
                </a:solidFill>
              </a:rPr>
              <a:t>Calcule la log-loss moyenne.</a:t>
            </a:r>
            <a:endParaRPr lang="en-US" sz="1080" dirty="0"/>
          </a:p>
        </p:txBody>
      </p:sp>
      <p:sp>
        <p:nvSpPr>
          <p:cNvPr id="12" name="Shape 10"/>
          <p:cNvSpPr/>
          <p:nvPr/>
        </p:nvSpPr>
        <p:spPr>
          <a:xfrm>
            <a:off x="731520" y="4069080"/>
            <a:ext cx="4937760" cy="914400"/>
          </a:xfrm>
          <a:prstGeom prst="roundRect">
            <a:avLst/>
          </a:prstGeom>
          <a:solidFill>
            <a:srgbClr val="DBEAFE"/>
          </a:solidFill>
          <a:ln w="12700">
            <a:solidFill>
              <a:srgbClr val="1D4ED8"/>
            </a:solidFill>
            <a:prstDash val="solid"/>
          </a:ln>
        </p:spPr>
        <p:txBody>
          <a:bodyPr/>
          <a:lstStyle/>
          <a:p>
            <a:endParaRPr lang="fr-FR"/>
          </a:p>
        </p:txBody>
      </p:sp>
      <p:sp>
        <p:nvSpPr>
          <p:cNvPr id="13" name="Text 11"/>
          <p:cNvSpPr/>
          <p:nvPr/>
        </p:nvSpPr>
        <p:spPr>
          <a:xfrm>
            <a:off x="932688" y="4206240"/>
            <a:ext cx="4526280" cy="219456"/>
          </a:xfrm>
          <a:prstGeom prst="rect">
            <a:avLst/>
          </a:prstGeom>
          <a:noFill/>
          <a:ln/>
        </p:spPr>
        <p:txBody>
          <a:bodyPr wrap="square" lIns="0" tIns="0" rIns="0" bIns="0" rtlCol="0" anchor="ctr"/>
          <a:lstStyle/>
          <a:p>
            <a:pPr marL="0" indent="0">
              <a:buNone/>
            </a:pPr>
            <a:r>
              <a:rPr lang="en-US" sz="1280" b="1" dirty="0">
                <a:solidFill>
                  <a:srgbClr val="0F172A"/>
                </a:solidFill>
                <a:latin typeface="Aptos Mono" pitchFamily="34" charset="0"/>
                <a:ea typeface="Aptos Mono" pitchFamily="34" charset="-122"/>
                <a:cs typeface="Aptos Mono" pitchFamily="34" charset="-120"/>
              </a:rPr>
              <a:t>compute_gradients(X, y, a)</a:t>
            </a:r>
            <a:endParaRPr lang="en-US" sz="1280" dirty="0"/>
          </a:p>
        </p:txBody>
      </p:sp>
      <p:sp>
        <p:nvSpPr>
          <p:cNvPr id="14" name="Text 12"/>
          <p:cNvSpPr/>
          <p:nvPr/>
        </p:nvSpPr>
        <p:spPr>
          <a:xfrm>
            <a:off x="932688" y="4544568"/>
            <a:ext cx="4526280" cy="228600"/>
          </a:xfrm>
          <a:prstGeom prst="rect">
            <a:avLst/>
          </a:prstGeom>
          <a:noFill/>
          <a:ln/>
        </p:spPr>
        <p:txBody>
          <a:bodyPr wrap="square" lIns="0" tIns="0" rIns="0" bIns="0" rtlCol="0" anchor="ctr"/>
          <a:lstStyle/>
          <a:p>
            <a:pPr marL="0" indent="0">
              <a:buNone/>
            </a:pPr>
            <a:r>
              <a:rPr lang="en-US" sz="1080" dirty="0">
                <a:solidFill>
                  <a:srgbClr val="475569"/>
                </a:solidFill>
              </a:rPr>
              <a:t>Calcule dw et db.</a:t>
            </a:r>
            <a:endParaRPr lang="en-US" sz="1080" dirty="0"/>
          </a:p>
        </p:txBody>
      </p:sp>
      <p:sp>
        <p:nvSpPr>
          <p:cNvPr id="15" name="Shape 13"/>
          <p:cNvSpPr/>
          <p:nvPr/>
        </p:nvSpPr>
        <p:spPr>
          <a:xfrm>
            <a:off x="6355080" y="1234440"/>
            <a:ext cx="4937760" cy="914400"/>
          </a:xfrm>
          <a:prstGeom prst="roundRect">
            <a:avLst/>
          </a:prstGeom>
          <a:solidFill>
            <a:srgbClr val="CFFAFE"/>
          </a:solidFill>
          <a:ln w="12700">
            <a:solidFill>
              <a:srgbClr val="06B6D4"/>
            </a:solidFill>
            <a:prstDash val="solid"/>
          </a:ln>
        </p:spPr>
        <p:txBody>
          <a:bodyPr/>
          <a:lstStyle/>
          <a:p>
            <a:endParaRPr lang="fr-FR"/>
          </a:p>
        </p:txBody>
      </p:sp>
      <p:sp>
        <p:nvSpPr>
          <p:cNvPr id="16" name="Text 14"/>
          <p:cNvSpPr/>
          <p:nvPr/>
        </p:nvSpPr>
        <p:spPr>
          <a:xfrm>
            <a:off x="6556248" y="1371600"/>
            <a:ext cx="4526280" cy="219456"/>
          </a:xfrm>
          <a:prstGeom prst="rect">
            <a:avLst/>
          </a:prstGeom>
          <a:noFill/>
          <a:ln/>
        </p:spPr>
        <p:txBody>
          <a:bodyPr wrap="square" lIns="0" tIns="0" rIns="0" bIns="0" rtlCol="0" anchor="ctr"/>
          <a:lstStyle/>
          <a:p>
            <a:pPr marL="0" indent="0">
              <a:buNone/>
            </a:pPr>
            <a:r>
              <a:rPr lang="en-US" sz="1280" b="1" dirty="0">
                <a:solidFill>
                  <a:srgbClr val="0F172A"/>
                </a:solidFill>
                <a:latin typeface="Aptos Mono" pitchFamily="34" charset="0"/>
                <a:ea typeface="Aptos Mono" pitchFamily="34" charset="-122"/>
                <a:cs typeface="Aptos Mono" pitchFamily="34" charset="-120"/>
              </a:rPr>
              <a:t>train_logistic_regression(...)</a:t>
            </a:r>
            <a:endParaRPr lang="en-US" sz="1280" dirty="0"/>
          </a:p>
        </p:txBody>
      </p:sp>
      <p:sp>
        <p:nvSpPr>
          <p:cNvPr id="17" name="Text 15"/>
          <p:cNvSpPr/>
          <p:nvPr/>
        </p:nvSpPr>
        <p:spPr>
          <a:xfrm>
            <a:off x="6556248" y="1709928"/>
            <a:ext cx="4526280" cy="228600"/>
          </a:xfrm>
          <a:prstGeom prst="rect">
            <a:avLst/>
          </a:prstGeom>
          <a:noFill/>
          <a:ln/>
        </p:spPr>
        <p:txBody>
          <a:bodyPr wrap="square" lIns="0" tIns="0" rIns="0" bIns="0" rtlCol="0" anchor="ctr"/>
          <a:lstStyle/>
          <a:p>
            <a:pPr marL="0" indent="0">
              <a:buNone/>
            </a:pPr>
            <a:r>
              <a:rPr lang="en-US" sz="1080" dirty="0">
                <a:solidFill>
                  <a:srgbClr val="475569"/>
                </a:solidFill>
              </a:rPr>
              <a:t>Répète la descente de gradient et sauvegarde les coûts.</a:t>
            </a:r>
            <a:endParaRPr lang="en-US" sz="1080" dirty="0"/>
          </a:p>
        </p:txBody>
      </p:sp>
      <p:sp>
        <p:nvSpPr>
          <p:cNvPr id="18" name="Shape 16"/>
          <p:cNvSpPr/>
          <p:nvPr/>
        </p:nvSpPr>
        <p:spPr>
          <a:xfrm>
            <a:off x="6355080" y="2651760"/>
            <a:ext cx="4937760" cy="914400"/>
          </a:xfrm>
          <a:prstGeom prst="roundRect">
            <a:avLst/>
          </a:prstGeom>
          <a:solidFill>
            <a:srgbClr val="CFFAFE"/>
          </a:solidFill>
          <a:ln w="12700">
            <a:solidFill>
              <a:srgbClr val="06B6D4"/>
            </a:solidFill>
            <a:prstDash val="solid"/>
          </a:ln>
        </p:spPr>
        <p:txBody>
          <a:bodyPr/>
          <a:lstStyle/>
          <a:p>
            <a:endParaRPr lang="fr-FR"/>
          </a:p>
        </p:txBody>
      </p:sp>
      <p:sp>
        <p:nvSpPr>
          <p:cNvPr id="19" name="Text 17"/>
          <p:cNvSpPr/>
          <p:nvPr/>
        </p:nvSpPr>
        <p:spPr>
          <a:xfrm>
            <a:off x="6556248" y="2788920"/>
            <a:ext cx="4526280" cy="219456"/>
          </a:xfrm>
          <a:prstGeom prst="rect">
            <a:avLst/>
          </a:prstGeom>
          <a:noFill/>
          <a:ln/>
        </p:spPr>
        <p:txBody>
          <a:bodyPr wrap="square" lIns="0" tIns="0" rIns="0" bIns="0" rtlCol="0" anchor="ctr"/>
          <a:lstStyle/>
          <a:p>
            <a:pPr marL="0" indent="0">
              <a:buNone/>
            </a:pPr>
            <a:r>
              <a:rPr lang="en-US" sz="1280" b="1" dirty="0">
                <a:solidFill>
                  <a:srgbClr val="0F172A"/>
                </a:solidFill>
                <a:latin typeface="Aptos Mono" pitchFamily="34" charset="0"/>
                <a:ea typeface="Aptos Mono" pitchFamily="34" charset="-122"/>
                <a:cs typeface="Aptos Mono" pitchFamily="34" charset="-120"/>
              </a:rPr>
              <a:t>predict(X, w, b)</a:t>
            </a:r>
            <a:endParaRPr lang="en-US" sz="1280" dirty="0"/>
          </a:p>
        </p:txBody>
      </p:sp>
      <p:sp>
        <p:nvSpPr>
          <p:cNvPr id="20" name="Text 18"/>
          <p:cNvSpPr/>
          <p:nvPr/>
        </p:nvSpPr>
        <p:spPr>
          <a:xfrm>
            <a:off x="6556248" y="3127248"/>
            <a:ext cx="4526280" cy="228600"/>
          </a:xfrm>
          <a:prstGeom prst="rect">
            <a:avLst/>
          </a:prstGeom>
          <a:noFill/>
          <a:ln/>
        </p:spPr>
        <p:txBody>
          <a:bodyPr wrap="square" lIns="0" tIns="0" rIns="0" bIns="0" rtlCol="0" anchor="ctr"/>
          <a:lstStyle/>
          <a:p>
            <a:pPr marL="0" indent="0">
              <a:buNone/>
            </a:pPr>
            <a:r>
              <a:rPr lang="en-US" sz="1080" dirty="0">
                <a:solidFill>
                  <a:srgbClr val="475569"/>
                </a:solidFill>
              </a:rPr>
              <a:t>Transforme les probabilités en classes.</a:t>
            </a:r>
            <a:endParaRPr lang="en-US" sz="1080" dirty="0"/>
          </a:p>
        </p:txBody>
      </p:sp>
      <p:sp>
        <p:nvSpPr>
          <p:cNvPr id="21" name="Shape 19"/>
          <p:cNvSpPr/>
          <p:nvPr/>
        </p:nvSpPr>
        <p:spPr>
          <a:xfrm>
            <a:off x="6355080" y="4069080"/>
            <a:ext cx="4937760" cy="914400"/>
          </a:xfrm>
          <a:prstGeom prst="roundRect">
            <a:avLst/>
          </a:prstGeom>
          <a:solidFill>
            <a:srgbClr val="CFFAFE"/>
          </a:solidFill>
          <a:ln w="12700">
            <a:solidFill>
              <a:srgbClr val="06B6D4"/>
            </a:solidFill>
            <a:prstDash val="solid"/>
          </a:ln>
        </p:spPr>
        <p:txBody>
          <a:bodyPr/>
          <a:lstStyle/>
          <a:p>
            <a:endParaRPr lang="fr-FR"/>
          </a:p>
        </p:txBody>
      </p:sp>
      <p:sp>
        <p:nvSpPr>
          <p:cNvPr id="22" name="Text 20"/>
          <p:cNvSpPr/>
          <p:nvPr/>
        </p:nvSpPr>
        <p:spPr>
          <a:xfrm>
            <a:off x="6556248" y="4206240"/>
            <a:ext cx="4526280" cy="219456"/>
          </a:xfrm>
          <a:prstGeom prst="rect">
            <a:avLst/>
          </a:prstGeom>
          <a:noFill/>
          <a:ln/>
        </p:spPr>
        <p:txBody>
          <a:bodyPr wrap="square" lIns="0" tIns="0" rIns="0" bIns="0" rtlCol="0" anchor="ctr"/>
          <a:lstStyle/>
          <a:p>
            <a:pPr marL="0" indent="0">
              <a:buNone/>
            </a:pPr>
            <a:r>
              <a:rPr lang="en-US" sz="1280" b="1" dirty="0">
                <a:solidFill>
                  <a:srgbClr val="0F172A"/>
                </a:solidFill>
                <a:latin typeface="Aptos Mono" pitchFamily="34" charset="0"/>
                <a:ea typeface="Aptos Mono" pitchFamily="34" charset="-122"/>
                <a:cs typeface="Aptos Mono" pitchFamily="34" charset="-120"/>
              </a:rPr>
              <a:t>evaluate(y, y_pred)</a:t>
            </a:r>
            <a:endParaRPr lang="en-US" sz="1280" dirty="0"/>
          </a:p>
        </p:txBody>
      </p:sp>
      <p:sp>
        <p:nvSpPr>
          <p:cNvPr id="23" name="Text 21"/>
          <p:cNvSpPr/>
          <p:nvPr/>
        </p:nvSpPr>
        <p:spPr>
          <a:xfrm>
            <a:off x="6556248" y="4544568"/>
            <a:ext cx="4526280" cy="228600"/>
          </a:xfrm>
          <a:prstGeom prst="rect">
            <a:avLst/>
          </a:prstGeom>
          <a:noFill/>
          <a:ln/>
        </p:spPr>
        <p:txBody>
          <a:bodyPr wrap="square" lIns="0" tIns="0" rIns="0" bIns="0" rtlCol="0" anchor="ctr"/>
          <a:lstStyle/>
          <a:p>
            <a:pPr marL="0" indent="0">
              <a:buNone/>
            </a:pPr>
            <a:r>
              <a:rPr lang="en-US" sz="1080" dirty="0">
                <a:solidFill>
                  <a:srgbClr val="475569"/>
                </a:solidFill>
              </a:rPr>
              <a:t>Calcule la matrice de confusion et les scores.</a:t>
            </a:r>
            <a:endParaRPr lang="en-US" sz="1080" dirty="0"/>
          </a:p>
        </p:txBody>
      </p:sp>
      <p:sp>
        <p:nvSpPr>
          <p:cNvPr id="24" name="Text 22"/>
          <p:cNvSpPr/>
          <p:nvPr/>
        </p:nvSpPr>
        <p:spPr>
          <a:xfrm>
            <a:off x="960120" y="5715000"/>
            <a:ext cx="10149840" cy="292608"/>
          </a:xfrm>
          <a:prstGeom prst="rect">
            <a:avLst/>
          </a:prstGeom>
          <a:noFill/>
          <a:ln/>
        </p:spPr>
        <p:txBody>
          <a:bodyPr wrap="square" lIns="0" tIns="0" rIns="0" bIns="0" rtlCol="0" anchor="ctr"/>
          <a:lstStyle/>
          <a:p>
            <a:pPr marL="0" indent="0" algn="ctr">
              <a:buNone/>
            </a:pPr>
            <a:r>
              <a:rPr lang="en-US" sz="1500" b="1" dirty="0">
                <a:solidFill>
                  <a:srgbClr val="0F172A"/>
                </a:solidFill>
              </a:rPr>
              <a:t>Point important pour le rendu : le code doit être clair, structuré en sections et commenté.</a:t>
            </a:r>
            <a:endParaRPr lang="en-US" sz="150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Descente de gradient</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Comment les paramètres apprennent à chaque itération</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Shape 4"/>
          <p:cNvSpPr/>
          <p:nvPr/>
        </p:nvSpPr>
        <p:spPr>
          <a:xfrm>
            <a:off x="685800" y="1417320"/>
            <a:ext cx="2331720" cy="1463040"/>
          </a:xfrm>
          <a:prstGeom prst="roundRect">
            <a:avLst/>
          </a:prstGeom>
          <a:solidFill>
            <a:srgbClr val="EEF6FF"/>
          </a:solidFill>
          <a:ln w="12700">
            <a:solidFill>
              <a:srgbClr val="1D4ED8"/>
            </a:solidFill>
            <a:prstDash val="solid"/>
          </a:ln>
        </p:spPr>
        <p:txBody>
          <a:bodyPr/>
          <a:lstStyle/>
          <a:p>
            <a:endParaRPr lang="fr-FR"/>
          </a:p>
        </p:txBody>
      </p:sp>
      <p:sp>
        <p:nvSpPr>
          <p:cNvPr id="7" name="Shape 5"/>
          <p:cNvSpPr/>
          <p:nvPr/>
        </p:nvSpPr>
        <p:spPr>
          <a:xfrm>
            <a:off x="850392" y="1600200"/>
            <a:ext cx="347472" cy="347472"/>
          </a:xfrm>
          <a:prstGeom prst="ellipse">
            <a:avLst/>
          </a:prstGeom>
          <a:solidFill>
            <a:srgbClr val="1D4ED8"/>
          </a:solidFill>
          <a:ln w="12700">
            <a:solidFill>
              <a:srgbClr val="1D4ED8"/>
            </a:solidFill>
            <a:prstDash val="solid"/>
          </a:ln>
        </p:spPr>
        <p:txBody>
          <a:bodyPr/>
          <a:lstStyle/>
          <a:p>
            <a:endParaRPr lang="fr-FR"/>
          </a:p>
        </p:txBody>
      </p:sp>
      <p:sp>
        <p:nvSpPr>
          <p:cNvPr id="8" name="Text 6"/>
          <p:cNvSpPr/>
          <p:nvPr/>
        </p:nvSpPr>
        <p:spPr>
          <a:xfrm>
            <a:off x="850392" y="1668780"/>
            <a:ext cx="347472" cy="10972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1344168" y="1618488"/>
            <a:ext cx="1417320" cy="228600"/>
          </a:xfrm>
          <a:prstGeom prst="rect">
            <a:avLst/>
          </a:prstGeom>
          <a:noFill/>
          <a:ln/>
        </p:spPr>
        <p:txBody>
          <a:bodyPr wrap="square" lIns="0" tIns="0" rIns="0" bIns="0" rtlCol="0" anchor="ctr"/>
          <a:lstStyle/>
          <a:p>
            <a:pPr marL="0" indent="0">
              <a:buNone/>
            </a:pPr>
            <a:r>
              <a:rPr lang="en-US" sz="1400" b="1" dirty="0">
                <a:solidFill>
                  <a:srgbClr val="0F172A"/>
                </a:solidFill>
              </a:rPr>
              <a:t>Prédire</a:t>
            </a:r>
            <a:endParaRPr lang="en-US" sz="1400" dirty="0"/>
          </a:p>
        </p:txBody>
      </p:sp>
      <p:sp>
        <p:nvSpPr>
          <p:cNvPr id="10" name="Text 8"/>
          <p:cNvSpPr/>
          <p:nvPr/>
        </p:nvSpPr>
        <p:spPr>
          <a:xfrm>
            <a:off x="886968" y="2148840"/>
            <a:ext cx="1920240" cy="347472"/>
          </a:xfrm>
          <a:prstGeom prst="rect">
            <a:avLst/>
          </a:prstGeom>
          <a:noFill/>
          <a:ln/>
        </p:spPr>
        <p:txBody>
          <a:bodyPr wrap="square" lIns="0" tIns="0" rIns="0" bIns="0" rtlCol="0" anchor="ctr">
            <a:normAutofit/>
          </a:bodyPr>
          <a:lstStyle/>
          <a:p>
            <a:pPr marL="0" indent="0">
              <a:buNone/>
            </a:pPr>
            <a:r>
              <a:rPr lang="en-US" sz="1020" dirty="0">
                <a:solidFill>
                  <a:srgbClr val="475569"/>
                </a:solidFill>
              </a:rPr>
              <a:t>a = σ(Xw + b)</a:t>
            </a:r>
            <a:endParaRPr lang="en-US" sz="1020" dirty="0"/>
          </a:p>
        </p:txBody>
      </p:sp>
      <p:sp>
        <p:nvSpPr>
          <p:cNvPr id="11" name="Shape 9"/>
          <p:cNvSpPr/>
          <p:nvPr/>
        </p:nvSpPr>
        <p:spPr>
          <a:xfrm>
            <a:off x="3063240" y="2148840"/>
            <a:ext cx="411480" cy="0"/>
          </a:xfrm>
          <a:prstGeom prst="line">
            <a:avLst/>
          </a:prstGeom>
          <a:noFill/>
          <a:ln w="25400">
            <a:solidFill>
              <a:srgbClr val="CBD5E1"/>
            </a:solidFill>
            <a:prstDash val="solid"/>
            <a:headEnd type="none"/>
            <a:tailEnd type="triangle"/>
          </a:ln>
        </p:spPr>
        <p:txBody>
          <a:bodyPr/>
          <a:lstStyle/>
          <a:p>
            <a:endParaRPr lang="fr-FR"/>
          </a:p>
        </p:txBody>
      </p:sp>
      <p:sp>
        <p:nvSpPr>
          <p:cNvPr id="12" name="Shape 10"/>
          <p:cNvSpPr/>
          <p:nvPr/>
        </p:nvSpPr>
        <p:spPr>
          <a:xfrm>
            <a:off x="3520440" y="1417320"/>
            <a:ext cx="2331720" cy="1463040"/>
          </a:xfrm>
          <a:prstGeom prst="roundRect">
            <a:avLst/>
          </a:prstGeom>
          <a:solidFill>
            <a:srgbClr val="FFFFFF"/>
          </a:solidFill>
          <a:ln w="12700">
            <a:solidFill>
              <a:srgbClr val="06B6D4"/>
            </a:solidFill>
            <a:prstDash val="solid"/>
          </a:ln>
        </p:spPr>
        <p:txBody>
          <a:bodyPr/>
          <a:lstStyle/>
          <a:p>
            <a:endParaRPr lang="fr-FR"/>
          </a:p>
        </p:txBody>
      </p:sp>
      <p:sp>
        <p:nvSpPr>
          <p:cNvPr id="13" name="Shape 11"/>
          <p:cNvSpPr/>
          <p:nvPr/>
        </p:nvSpPr>
        <p:spPr>
          <a:xfrm>
            <a:off x="3685032" y="1600200"/>
            <a:ext cx="347472" cy="347472"/>
          </a:xfrm>
          <a:prstGeom prst="ellipse">
            <a:avLst/>
          </a:prstGeom>
          <a:solidFill>
            <a:srgbClr val="06B6D4"/>
          </a:solidFill>
          <a:ln w="12700">
            <a:solidFill>
              <a:srgbClr val="06B6D4"/>
            </a:solidFill>
            <a:prstDash val="solid"/>
          </a:ln>
        </p:spPr>
        <p:txBody>
          <a:bodyPr/>
          <a:lstStyle/>
          <a:p>
            <a:endParaRPr lang="fr-FR"/>
          </a:p>
        </p:txBody>
      </p:sp>
      <p:sp>
        <p:nvSpPr>
          <p:cNvPr id="14" name="Text 12"/>
          <p:cNvSpPr/>
          <p:nvPr/>
        </p:nvSpPr>
        <p:spPr>
          <a:xfrm>
            <a:off x="3685032" y="1668780"/>
            <a:ext cx="347472" cy="10972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5" name="Text 13"/>
          <p:cNvSpPr/>
          <p:nvPr/>
        </p:nvSpPr>
        <p:spPr>
          <a:xfrm>
            <a:off x="4178808" y="1618488"/>
            <a:ext cx="1417320" cy="228600"/>
          </a:xfrm>
          <a:prstGeom prst="rect">
            <a:avLst/>
          </a:prstGeom>
          <a:noFill/>
          <a:ln/>
        </p:spPr>
        <p:txBody>
          <a:bodyPr wrap="square" lIns="0" tIns="0" rIns="0" bIns="0" rtlCol="0" anchor="ctr"/>
          <a:lstStyle/>
          <a:p>
            <a:pPr marL="0" indent="0">
              <a:buNone/>
            </a:pPr>
            <a:r>
              <a:rPr lang="en-US" sz="1400" b="1" dirty="0">
                <a:solidFill>
                  <a:srgbClr val="0F172A"/>
                </a:solidFill>
              </a:rPr>
              <a:t>Comparer</a:t>
            </a:r>
            <a:endParaRPr lang="en-US" sz="1400" dirty="0"/>
          </a:p>
        </p:txBody>
      </p:sp>
      <p:sp>
        <p:nvSpPr>
          <p:cNvPr id="16" name="Text 14"/>
          <p:cNvSpPr/>
          <p:nvPr/>
        </p:nvSpPr>
        <p:spPr>
          <a:xfrm>
            <a:off x="3721608" y="2148840"/>
            <a:ext cx="1920240" cy="347472"/>
          </a:xfrm>
          <a:prstGeom prst="rect">
            <a:avLst/>
          </a:prstGeom>
          <a:noFill/>
          <a:ln/>
        </p:spPr>
        <p:txBody>
          <a:bodyPr wrap="square" lIns="0" tIns="0" rIns="0" bIns="0" rtlCol="0" anchor="ctr">
            <a:normAutofit/>
          </a:bodyPr>
          <a:lstStyle/>
          <a:p>
            <a:pPr marL="0" indent="0">
              <a:buNone/>
            </a:pPr>
            <a:r>
              <a:rPr lang="en-US" sz="1020" dirty="0">
                <a:solidFill>
                  <a:srgbClr val="475569"/>
                </a:solidFill>
              </a:rPr>
              <a:t>erreur = a − y</a:t>
            </a:r>
            <a:endParaRPr lang="en-US" sz="1020" dirty="0"/>
          </a:p>
        </p:txBody>
      </p:sp>
      <p:sp>
        <p:nvSpPr>
          <p:cNvPr id="17" name="Shape 15"/>
          <p:cNvSpPr/>
          <p:nvPr/>
        </p:nvSpPr>
        <p:spPr>
          <a:xfrm>
            <a:off x="5897880" y="2148840"/>
            <a:ext cx="411480" cy="0"/>
          </a:xfrm>
          <a:prstGeom prst="line">
            <a:avLst/>
          </a:prstGeom>
          <a:noFill/>
          <a:ln w="25400">
            <a:solidFill>
              <a:srgbClr val="CBD5E1"/>
            </a:solidFill>
            <a:prstDash val="solid"/>
            <a:headEnd type="none"/>
            <a:tailEnd type="triangle"/>
          </a:ln>
        </p:spPr>
        <p:txBody>
          <a:bodyPr/>
          <a:lstStyle/>
          <a:p>
            <a:endParaRPr lang="fr-FR"/>
          </a:p>
        </p:txBody>
      </p:sp>
      <p:sp>
        <p:nvSpPr>
          <p:cNvPr id="18" name="Shape 16"/>
          <p:cNvSpPr/>
          <p:nvPr/>
        </p:nvSpPr>
        <p:spPr>
          <a:xfrm>
            <a:off x="6355080" y="1417320"/>
            <a:ext cx="2331720" cy="1463040"/>
          </a:xfrm>
          <a:prstGeom prst="roundRect">
            <a:avLst/>
          </a:prstGeom>
          <a:solidFill>
            <a:srgbClr val="EEF6FF"/>
          </a:solidFill>
          <a:ln w="12700">
            <a:solidFill>
              <a:srgbClr val="1D4ED8"/>
            </a:solidFill>
            <a:prstDash val="solid"/>
          </a:ln>
        </p:spPr>
        <p:txBody>
          <a:bodyPr/>
          <a:lstStyle/>
          <a:p>
            <a:endParaRPr lang="fr-FR"/>
          </a:p>
        </p:txBody>
      </p:sp>
      <p:sp>
        <p:nvSpPr>
          <p:cNvPr id="19" name="Shape 17"/>
          <p:cNvSpPr/>
          <p:nvPr/>
        </p:nvSpPr>
        <p:spPr>
          <a:xfrm>
            <a:off x="6519672" y="1600200"/>
            <a:ext cx="347472" cy="347472"/>
          </a:xfrm>
          <a:prstGeom prst="ellipse">
            <a:avLst/>
          </a:prstGeom>
          <a:solidFill>
            <a:srgbClr val="1D4ED8"/>
          </a:solidFill>
          <a:ln w="12700">
            <a:solidFill>
              <a:srgbClr val="1D4ED8"/>
            </a:solidFill>
            <a:prstDash val="solid"/>
          </a:ln>
        </p:spPr>
        <p:txBody>
          <a:bodyPr/>
          <a:lstStyle/>
          <a:p>
            <a:endParaRPr lang="fr-FR"/>
          </a:p>
        </p:txBody>
      </p:sp>
      <p:sp>
        <p:nvSpPr>
          <p:cNvPr id="20" name="Text 18"/>
          <p:cNvSpPr/>
          <p:nvPr/>
        </p:nvSpPr>
        <p:spPr>
          <a:xfrm>
            <a:off x="6519672" y="1668780"/>
            <a:ext cx="347472" cy="10972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1" name="Text 19"/>
          <p:cNvSpPr/>
          <p:nvPr/>
        </p:nvSpPr>
        <p:spPr>
          <a:xfrm>
            <a:off x="7013448" y="1618488"/>
            <a:ext cx="1417320" cy="228600"/>
          </a:xfrm>
          <a:prstGeom prst="rect">
            <a:avLst/>
          </a:prstGeom>
          <a:noFill/>
          <a:ln/>
        </p:spPr>
        <p:txBody>
          <a:bodyPr wrap="square" lIns="0" tIns="0" rIns="0" bIns="0" rtlCol="0" anchor="ctr"/>
          <a:lstStyle/>
          <a:p>
            <a:pPr marL="0" indent="0">
              <a:buNone/>
            </a:pPr>
            <a:r>
              <a:rPr lang="en-US" sz="1400" b="1" dirty="0">
                <a:solidFill>
                  <a:srgbClr val="0F172A"/>
                </a:solidFill>
              </a:rPr>
              <a:t>Dériver</a:t>
            </a:r>
            <a:endParaRPr lang="en-US" sz="1400" dirty="0"/>
          </a:p>
        </p:txBody>
      </p:sp>
      <p:sp>
        <p:nvSpPr>
          <p:cNvPr id="22" name="Text 20"/>
          <p:cNvSpPr/>
          <p:nvPr/>
        </p:nvSpPr>
        <p:spPr>
          <a:xfrm>
            <a:off x="6556248" y="2148840"/>
            <a:ext cx="1920240" cy="347472"/>
          </a:xfrm>
          <a:prstGeom prst="rect">
            <a:avLst/>
          </a:prstGeom>
          <a:noFill/>
          <a:ln/>
        </p:spPr>
        <p:txBody>
          <a:bodyPr wrap="square" lIns="0" tIns="0" rIns="0" bIns="0" rtlCol="0" anchor="ctr">
            <a:normAutofit/>
          </a:bodyPr>
          <a:lstStyle/>
          <a:p>
            <a:pPr marL="0" indent="0">
              <a:buNone/>
            </a:pPr>
            <a:r>
              <a:rPr lang="en-US" sz="1020" dirty="0">
                <a:solidFill>
                  <a:srgbClr val="475569"/>
                </a:solidFill>
              </a:rPr>
              <a:t>dw = 1/m Xᵀ(a−y), db = 1/m Σ(a−y)</a:t>
            </a:r>
            <a:endParaRPr lang="en-US" sz="1020" dirty="0"/>
          </a:p>
        </p:txBody>
      </p:sp>
      <p:sp>
        <p:nvSpPr>
          <p:cNvPr id="23" name="Shape 21"/>
          <p:cNvSpPr/>
          <p:nvPr/>
        </p:nvSpPr>
        <p:spPr>
          <a:xfrm>
            <a:off x="8732520" y="2148840"/>
            <a:ext cx="411480" cy="0"/>
          </a:xfrm>
          <a:prstGeom prst="line">
            <a:avLst/>
          </a:prstGeom>
          <a:noFill/>
          <a:ln w="25400">
            <a:solidFill>
              <a:srgbClr val="CBD5E1"/>
            </a:solidFill>
            <a:prstDash val="solid"/>
            <a:headEnd type="none"/>
            <a:tailEnd type="triangle"/>
          </a:ln>
        </p:spPr>
        <p:txBody>
          <a:bodyPr/>
          <a:lstStyle/>
          <a:p>
            <a:endParaRPr lang="fr-FR"/>
          </a:p>
        </p:txBody>
      </p:sp>
      <p:sp>
        <p:nvSpPr>
          <p:cNvPr id="24" name="Shape 22"/>
          <p:cNvSpPr/>
          <p:nvPr/>
        </p:nvSpPr>
        <p:spPr>
          <a:xfrm>
            <a:off x="9189720" y="1417320"/>
            <a:ext cx="2331720" cy="1463040"/>
          </a:xfrm>
          <a:prstGeom prst="roundRect">
            <a:avLst/>
          </a:prstGeom>
          <a:solidFill>
            <a:srgbClr val="FFFFFF"/>
          </a:solidFill>
          <a:ln w="12700">
            <a:solidFill>
              <a:srgbClr val="06B6D4"/>
            </a:solidFill>
            <a:prstDash val="solid"/>
          </a:ln>
        </p:spPr>
        <p:txBody>
          <a:bodyPr/>
          <a:lstStyle/>
          <a:p>
            <a:endParaRPr lang="fr-FR"/>
          </a:p>
        </p:txBody>
      </p:sp>
      <p:sp>
        <p:nvSpPr>
          <p:cNvPr id="25" name="Shape 23"/>
          <p:cNvSpPr/>
          <p:nvPr/>
        </p:nvSpPr>
        <p:spPr>
          <a:xfrm>
            <a:off x="9354312" y="1600200"/>
            <a:ext cx="347472" cy="347472"/>
          </a:xfrm>
          <a:prstGeom prst="ellipse">
            <a:avLst/>
          </a:prstGeom>
          <a:solidFill>
            <a:srgbClr val="06B6D4"/>
          </a:solidFill>
          <a:ln w="12700">
            <a:solidFill>
              <a:srgbClr val="06B6D4"/>
            </a:solidFill>
            <a:prstDash val="solid"/>
          </a:ln>
        </p:spPr>
        <p:txBody>
          <a:bodyPr/>
          <a:lstStyle/>
          <a:p>
            <a:endParaRPr lang="fr-FR"/>
          </a:p>
        </p:txBody>
      </p:sp>
      <p:sp>
        <p:nvSpPr>
          <p:cNvPr id="26" name="Text 24"/>
          <p:cNvSpPr/>
          <p:nvPr/>
        </p:nvSpPr>
        <p:spPr>
          <a:xfrm>
            <a:off x="9354312" y="1668780"/>
            <a:ext cx="347472" cy="109728"/>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7" name="Text 25"/>
          <p:cNvSpPr/>
          <p:nvPr/>
        </p:nvSpPr>
        <p:spPr>
          <a:xfrm>
            <a:off x="9848088" y="1618488"/>
            <a:ext cx="1417320" cy="228600"/>
          </a:xfrm>
          <a:prstGeom prst="rect">
            <a:avLst/>
          </a:prstGeom>
          <a:noFill/>
          <a:ln/>
        </p:spPr>
        <p:txBody>
          <a:bodyPr wrap="square" lIns="0" tIns="0" rIns="0" bIns="0" rtlCol="0" anchor="ctr"/>
          <a:lstStyle/>
          <a:p>
            <a:pPr marL="0" indent="0">
              <a:buNone/>
            </a:pPr>
            <a:r>
              <a:rPr lang="en-US" sz="1400" b="1" dirty="0">
                <a:solidFill>
                  <a:srgbClr val="0F172A"/>
                </a:solidFill>
              </a:rPr>
              <a:t>Mettre à jour</a:t>
            </a:r>
            <a:endParaRPr lang="en-US" sz="1400" dirty="0"/>
          </a:p>
        </p:txBody>
      </p:sp>
      <p:sp>
        <p:nvSpPr>
          <p:cNvPr id="28" name="Text 26"/>
          <p:cNvSpPr/>
          <p:nvPr/>
        </p:nvSpPr>
        <p:spPr>
          <a:xfrm>
            <a:off x="9390888" y="2148840"/>
            <a:ext cx="1920240" cy="347472"/>
          </a:xfrm>
          <a:prstGeom prst="rect">
            <a:avLst/>
          </a:prstGeom>
          <a:noFill/>
          <a:ln/>
        </p:spPr>
        <p:txBody>
          <a:bodyPr wrap="square" lIns="0" tIns="0" rIns="0" bIns="0" rtlCol="0" anchor="ctr">
            <a:normAutofit/>
          </a:bodyPr>
          <a:lstStyle/>
          <a:p>
            <a:pPr marL="0" indent="0">
              <a:buNone/>
            </a:pPr>
            <a:r>
              <a:rPr lang="en-US" sz="1020" dirty="0">
                <a:solidFill>
                  <a:srgbClr val="475569"/>
                </a:solidFill>
              </a:rPr>
              <a:t>w ← w − αdw, b ← b − αdb</a:t>
            </a:r>
            <a:endParaRPr lang="en-US" sz="1020" dirty="0"/>
          </a:p>
        </p:txBody>
      </p:sp>
      <p:sp>
        <p:nvSpPr>
          <p:cNvPr id="29" name="Text 27"/>
          <p:cNvSpPr/>
          <p:nvPr/>
        </p:nvSpPr>
        <p:spPr>
          <a:xfrm>
            <a:off x="868680" y="3657600"/>
            <a:ext cx="2240280" cy="320040"/>
          </a:xfrm>
          <a:prstGeom prst="rect">
            <a:avLst/>
          </a:prstGeom>
          <a:noFill/>
          <a:ln/>
        </p:spPr>
        <p:txBody>
          <a:bodyPr wrap="square" lIns="0" tIns="0" rIns="0" bIns="0" rtlCol="0" anchor="ctr"/>
          <a:lstStyle/>
          <a:p>
            <a:pPr marL="0" indent="0">
              <a:buNone/>
            </a:pPr>
            <a:r>
              <a:rPr lang="en-US" sz="1800" b="1" dirty="0">
                <a:solidFill>
                  <a:srgbClr val="1D4ED8"/>
                </a:solidFill>
              </a:rPr>
              <a:t>α = learning rate</a:t>
            </a:r>
            <a:endParaRPr lang="en-US" sz="1800" dirty="0"/>
          </a:p>
        </p:txBody>
      </p:sp>
      <p:sp>
        <p:nvSpPr>
          <p:cNvPr id="30" name="Text 28"/>
          <p:cNvSpPr/>
          <p:nvPr/>
        </p:nvSpPr>
        <p:spPr>
          <a:xfrm>
            <a:off x="3977640" y="3657600"/>
            <a:ext cx="7086600" cy="411480"/>
          </a:xfrm>
          <a:prstGeom prst="rect">
            <a:avLst/>
          </a:prstGeom>
          <a:noFill/>
          <a:ln/>
        </p:spPr>
        <p:txBody>
          <a:bodyPr wrap="square" lIns="0" tIns="0" rIns="0" bIns="0" rtlCol="0" anchor="ctr"/>
          <a:lstStyle/>
          <a:p>
            <a:pPr marL="0" indent="0">
              <a:buNone/>
            </a:pPr>
            <a:r>
              <a:rPr lang="en-US" sz="1250" dirty="0">
                <a:solidFill>
                  <a:srgbClr val="475569"/>
                </a:solidFill>
              </a:rPr>
              <a:t>C’est le pas d’apprentissage. S’il est trop grand, le coût peut diverger ; s’il est trop petit, l’apprentissage devient très lent.</a:t>
            </a:r>
            <a:endParaRPr lang="en-US" sz="1250" dirty="0"/>
          </a:p>
        </p:txBody>
      </p:sp>
      <p:graphicFrame>
        <p:nvGraphicFramePr>
          <p:cNvPr id="31" name="Chart 0"/>
          <p:cNvGraphicFramePr/>
          <p:nvPr/>
        </p:nvGraphicFramePr>
        <p:xfrm>
          <a:off x="1005840" y="4343400"/>
          <a:ext cx="438912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32" name="Text 29"/>
          <p:cNvSpPr/>
          <p:nvPr/>
        </p:nvSpPr>
        <p:spPr>
          <a:xfrm>
            <a:off x="5852160" y="4800600"/>
            <a:ext cx="5120640" cy="320040"/>
          </a:xfrm>
          <a:prstGeom prst="rect">
            <a:avLst/>
          </a:prstGeom>
          <a:noFill/>
          <a:ln/>
        </p:spPr>
        <p:txBody>
          <a:bodyPr wrap="square" lIns="0" tIns="0" rIns="0" bIns="0" rtlCol="0" anchor="ctr"/>
          <a:lstStyle/>
          <a:p>
            <a:pPr marL="0" indent="0">
              <a:buNone/>
            </a:pPr>
            <a:r>
              <a:rPr lang="en-US" sz="1450" b="1" dirty="0">
                <a:solidFill>
                  <a:srgbClr val="10B981"/>
                </a:solidFill>
              </a:rPr>
              <a:t>Forme attendue : la fonction coût diminue puis se stabilise.</a:t>
            </a:r>
            <a:endParaRPr lang="en-US" sz="1450" dirty="0"/>
          </a:p>
        </p:txBody>
      </p:sp>
      <p:sp>
        <p:nvSpPr>
          <p:cNvPr id="33"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Entraînement, validation et test</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Pourquoi ne pas évaluer sur les mêmes données que celles utilisées pour apprendre</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Shape 4"/>
          <p:cNvSpPr/>
          <p:nvPr/>
        </p:nvSpPr>
        <p:spPr>
          <a:xfrm>
            <a:off x="822960" y="1325880"/>
            <a:ext cx="9966960" cy="731520"/>
          </a:xfrm>
          <a:prstGeom prst="roundRect">
            <a:avLst/>
          </a:prstGeom>
          <a:solidFill>
            <a:srgbClr val="FFFFFF"/>
          </a:solidFill>
          <a:ln w="12700">
            <a:solidFill>
              <a:srgbClr val="CBD5E1"/>
            </a:solidFill>
            <a:prstDash val="solid"/>
          </a:ln>
        </p:spPr>
        <p:txBody>
          <a:bodyPr/>
          <a:lstStyle/>
          <a:p>
            <a:endParaRPr lang="fr-FR"/>
          </a:p>
        </p:txBody>
      </p:sp>
      <p:sp>
        <p:nvSpPr>
          <p:cNvPr id="7" name="Shape 5"/>
          <p:cNvSpPr/>
          <p:nvPr/>
        </p:nvSpPr>
        <p:spPr>
          <a:xfrm>
            <a:off x="960120" y="1508760"/>
            <a:ext cx="6858000" cy="365760"/>
          </a:xfrm>
          <a:prstGeom prst="rect">
            <a:avLst/>
          </a:prstGeom>
          <a:solidFill>
            <a:srgbClr val="1D4ED8"/>
          </a:solidFill>
          <a:ln w="12700">
            <a:solidFill>
              <a:srgbClr val="1D4ED8"/>
            </a:solidFill>
            <a:prstDash val="solid"/>
          </a:ln>
        </p:spPr>
        <p:txBody>
          <a:bodyPr/>
          <a:lstStyle/>
          <a:p>
            <a:endParaRPr lang="fr-FR"/>
          </a:p>
        </p:txBody>
      </p:sp>
      <p:sp>
        <p:nvSpPr>
          <p:cNvPr id="8" name="Text 6"/>
          <p:cNvSpPr/>
          <p:nvPr/>
        </p:nvSpPr>
        <p:spPr>
          <a:xfrm>
            <a:off x="960120" y="1618488"/>
            <a:ext cx="6858000" cy="100584"/>
          </a:xfrm>
          <a:prstGeom prst="rect">
            <a:avLst/>
          </a:prstGeom>
          <a:noFill/>
          <a:ln/>
        </p:spPr>
        <p:txBody>
          <a:bodyPr wrap="square" lIns="0" tIns="0" rIns="0" bIns="0" rtlCol="0" anchor="ctr"/>
          <a:lstStyle/>
          <a:p>
            <a:pPr marL="0" indent="0" algn="ctr">
              <a:buNone/>
            </a:pPr>
            <a:r>
              <a:rPr lang="en-US" sz="850" b="1" dirty="0">
                <a:solidFill>
                  <a:srgbClr val="FFFFFF"/>
                </a:solidFill>
              </a:rPr>
              <a:t>Train 75 %</a:t>
            </a:r>
            <a:endParaRPr lang="en-US" sz="850" dirty="0"/>
          </a:p>
        </p:txBody>
      </p:sp>
      <p:sp>
        <p:nvSpPr>
          <p:cNvPr id="9" name="Shape 7"/>
          <p:cNvSpPr/>
          <p:nvPr/>
        </p:nvSpPr>
        <p:spPr>
          <a:xfrm>
            <a:off x="7818120" y="1508760"/>
            <a:ext cx="1097280" cy="365760"/>
          </a:xfrm>
          <a:prstGeom prst="rect">
            <a:avLst/>
          </a:prstGeom>
          <a:solidFill>
            <a:srgbClr val="F59E0B"/>
          </a:solidFill>
          <a:ln w="12700">
            <a:solidFill>
              <a:srgbClr val="F59E0B"/>
            </a:solidFill>
            <a:prstDash val="solid"/>
          </a:ln>
        </p:spPr>
        <p:txBody>
          <a:bodyPr/>
          <a:lstStyle/>
          <a:p>
            <a:endParaRPr lang="fr-FR"/>
          </a:p>
        </p:txBody>
      </p:sp>
      <p:sp>
        <p:nvSpPr>
          <p:cNvPr id="10" name="Text 8"/>
          <p:cNvSpPr/>
          <p:nvPr/>
        </p:nvSpPr>
        <p:spPr>
          <a:xfrm>
            <a:off x="7818120" y="1618488"/>
            <a:ext cx="1097280" cy="100584"/>
          </a:xfrm>
          <a:prstGeom prst="rect">
            <a:avLst/>
          </a:prstGeom>
          <a:noFill/>
          <a:ln/>
        </p:spPr>
        <p:txBody>
          <a:bodyPr wrap="square" lIns="0" tIns="0" rIns="0" bIns="0" rtlCol="0" anchor="ctr"/>
          <a:lstStyle/>
          <a:p>
            <a:pPr marL="0" indent="0" algn="ctr">
              <a:buNone/>
            </a:pPr>
            <a:r>
              <a:rPr lang="en-US" sz="850" b="1" dirty="0">
                <a:solidFill>
                  <a:srgbClr val="FFFFFF"/>
                </a:solidFill>
              </a:rPr>
              <a:t>Validation 5 %</a:t>
            </a:r>
            <a:endParaRPr lang="en-US" sz="850" dirty="0"/>
          </a:p>
        </p:txBody>
      </p:sp>
      <p:sp>
        <p:nvSpPr>
          <p:cNvPr id="11" name="Shape 9"/>
          <p:cNvSpPr/>
          <p:nvPr/>
        </p:nvSpPr>
        <p:spPr>
          <a:xfrm>
            <a:off x="8915400" y="1508760"/>
            <a:ext cx="1828800" cy="365760"/>
          </a:xfrm>
          <a:prstGeom prst="rect">
            <a:avLst/>
          </a:prstGeom>
          <a:solidFill>
            <a:srgbClr val="10B981"/>
          </a:solidFill>
          <a:ln w="12700">
            <a:solidFill>
              <a:srgbClr val="10B981"/>
            </a:solidFill>
            <a:prstDash val="solid"/>
          </a:ln>
        </p:spPr>
        <p:txBody>
          <a:bodyPr/>
          <a:lstStyle/>
          <a:p>
            <a:endParaRPr lang="fr-FR"/>
          </a:p>
        </p:txBody>
      </p:sp>
      <p:sp>
        <p:nvSpPr>
          <p:cNvPr id="12" name="Text 10"/>
          <p:cNvSpPr/>
          <p:nvPr/>
        </p:nvSpPr>
        <p:spPr>
          <a:xfrm>
            <a:off x="8915400" y="1618488"/>
            <a:ext cx="1828800" cy="100584"/>
          </a:xfrm>
          <a:prstGeom prst="rect">
            <a:avLst/>
          </a:prstGeom>
          <a:noFill/>
          <a:ln/>
        </p:spPr>
        <p:txBody>
          <a:bodyPr wrap="square" lIns="0" tIns="0" rIns="0" bIns="0" rtlCol="0" anchor="ctr"/>
          <a:lstStyle/>
          <a:p>
            <a:pPr marL="0" indent="0" algn="ctr">
              <a:buNone/>
            </a:pPr>
            <a:r>
              <a:rPr lang="en-US" sz="850" b="1" dirty="0">
                <a:solidFill>
                  <a:srgbClr val="FFFFFF"/>
                </a:solidFill>
              </a:rPr>
              <a:t>Test 20 %</a:t>
            </a:r>
            <a:endParaRPr lang="en-US" sz="850" dirty="0"/>
          </a:p>
        </p:txBody>
      </p:sp>
      <p:sp>
        <p:nvSpPr>
          <p:cNvPr id="13" name="Shape 11"/>
          <p:cNvSpPr/>
          <p:nvPr/>
        </p:nvSpPr>
        <p:spPr>
          <a:xfrm>
            <a:off x="868680" y="2743200"/>
            <a:ext cx="3108960" cy="1143000"/>
          </a:xfrm>
          <a:prstGeom prst="roundRect">
            <a:avLst>
              <a:gd name="adj" fmla="val 6400"/>
            </a:avLst>
          </a:prstGeom>
          <a:solidFill>
            <a:srgbClr val="DBEAFE"/>
          </a:solidFill>
          <a:ln w="12700">
            <a:solidFill>
              <a:srgbClr val="1D4ED8"/>
            </a:solidFill>
            <a:prstDash val="solid"/>
          </a:ln>
        </p:spPr>
        <p:txBody>
          <a:bodyPr/>
          <a:lstStyle/>
          <a:p>
            <a:endParaRPr lang="fr-FR" dirty="0"/>
          </a:p>
        </p:txBody>
      </p:sp>
      <p:sp>
        <p:nvSpPr>
          <p:cNvPr id="14" name="Text 12"/>
          <p:cNvSpPr/>
          <p:nvPr/>
        </p:nvSpPr>
        <p:spPr>
          <a:xfrm>
            <a:off x="1033272" y="2852928"/>
            <a:ext cx="2779776" cy="228600"/>
          </a:xfrm>
          <a:prstGeom prst="rect">
            <a:avLst/>
          </a:prstGeom>
          <a:noFill/>
          <a:ln/>
        </p:spPr>
        <p:txBody>
          <a:bodyPr wrap="square" lIns="0" tIns="0" rIns="0" bIns="0" rtlCol="0" anchor="ctr"/>
          <a:lstStyle/>
          <a:p>
            <a:pPr marL="0" indent="0">
              <a:buNone/>
            </a:pPr>
            <a:r>
              <a:rPr lang="en-US" sz="1200" b="1" dirty="0">
                <a:solidFill>
                  <a:srgbClr val="0F172A"/>
                </a:solidFill>
              </a:rPr>
              <a:t>Train</a:t>
            </a:r>
            <a:endParaRPr lang="en-US" sz="1200" dirty="0"/>
          </a:p>
        </p:txBody>
      </p:sp>
      <p:sp>
        <p:nvSpPr>
          <p:cNvPr id="15" name="Text 13"/>
          <p:cNvSpPr/>
          <p:nvPr/>
        </p:nvSpPr>
        <p:spPr>
          <a:xfrm>
            <a:off x="1033272" y="3182112"/>
            <a:ext cx="2779776" cy="54864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Données utilisées pour apprendre w et b.</a:t>
            </a:r>
            <a:endParaRPr lang="en-US" sz="1050" dirty="0"/>
          </a:p>
        </p:txBody>
      </p:sp>
      <p:sp>
        <p:nvSpPr>
          <p:cNvPr id="16" name="Shape 14"/>
          <p:cNvSpPr/>
          <p:nvPr/>
        </p:nvSpPr>
        <p:spPr>
          <a:xfrm>
            <a:off x="4526280" y="2743200"/>
            <a:ext cx="3108960" cy="1143000"/>
          </a:xfrm>
          <a:prstGeom prst="roundRect">
            <a:avLst>
              <a:gd name="adj" fmla="val 6400"/>
            </a:avLst>
          </a:prstGeom>
          <a:solidFill>
            <a:srgbClr val="FEF3C7"/>
          </a:solidFill>
          <a:ln w="12700">
            <a:solidFill>
              <a:srgbClr val="F59E0B"/>
            </a:solidFill>
            <a:prstDash val="solid"/>
          </a:ln>
        </p:spPr>
        <p:txBody>
          <a:bodyPr/>
          <a:lstStyle/>
          <a:p>
            <a:endParaRPr lang="fr-FR"/>
          </a:p>
        </p:txBody>
      </p:sp>
      <p:sp>
        <p:nvSpPr>
          <p:cNvPr id="17" name="Text 15"/>
          <p:cNvSpPr/>
          <p:nvPr/>
        </p:nvSpPr>
        <p:spPr>
          <a:xfrm>
            <a:off x="4690872" y="2852928"/>
            <a:ext cx="2779776" cy="228600"/>
          </a:xfrm>
          <a:prstGeom prst="rect">
            <a:avLst/>
          </a:prstGeom>
          <a:noFill/>
          <a:ln/>
        </p:spPr>
        <p:txBody>
          <a:bodyPr wrap="square" lIns="0" tIns="0" rIns="0" bIns="0" rtlCol="0" anchor="ctr"/>
          <a:lstStyle/>
          <a:p>
            <a:pPr marL="0" indent="0">
              <a:buNone/>
            </a:pPr>
            <a:r>
              <a:rPr lang="en-US" sz="1200" b="1" dirty="0">
                <a:solidFill>
                  <a:srgbClr val="0F172A"/>
                </a:solidFill>
              </a:rPr>
              <a:t>Validation</a:t>
            </a:r>
            <a:endParaRPr lang="en-US" sz="1200" dirty="0"/>
          </a:p>
        </p:txBody>
      </p:sp>
      <p:sp>
        <p:nvSpPr>
          <p:cNvPr id="18" name="Text 16"/>
          <p:cNvSpPr/>
          <p:nvPr/>
        </p:nvSpPr>
        <p:spPr>
          <a:xfrm>
            <a:off x="4690872" y="3182112"/>
            <a:ext cx="2779776" cy="54864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Données utilisées pour suivre le comportement du modèle et choisir des hyperparamètres.</a:t>
            </a:r>
            <a:endParaRPr lang="en-US" sz="1050" dirty="0"/>
          </a:p>
        </p:txBody>
      </p:sp>
      <p:sp>
        <p:nvSpPr>
          <p:cNvPr id="19" name="Shape 17"/>
          <p:cNvSpPr/>
          <p:nvPr/>
        </p:nvSpPr>
        <p:spPr>
          <a:xfrm>
            <a:off x="8183880" y="2743200"/>
            <a:ext cx="3108960" cy="1143000"/>
          </a:xfrm>
          <a:prstGeom prst="roundRect">
            <a:avLst>
              <a:gd name="adj" fmla="val 6400"/>
            </a:avLst>
          </a:prstGeom>
          <a:solidFill>
            <a:srgbClr val="DCFCE7"/>
          </a:solidFill>
          <a:ln w="12700">
            <a:solidFill>
              <a:srgbClr val="10B981"/>
            </a:solidFill>
            <a:prstDash val="solid"/>
          </a:ln>
        </p:spPr>
        <p:txBody>
          <a:bodyPr/>
          <a:lstStyle/>
          <a:p>
            <a:endParaRPr lang="fr-FR"/>
          </a:p>
        </p:txBody>
      </p:sp>
      <p:sp>
        <p:nvSpPr>
          <p:cNvPr id="20" name="Text 18"/>
          <p:cNvSpPr/>
          <p:nvPr/>
        </p:nvSpPr>
        <p:spPr>
          <a:xfrm>
            <a:off x="8348472" y="2852928"/>
            <a:ext cx="2779776" cy="228600"/>
          </a:xfrm>
          <a:prstGeom prst="rect">
            <a:avLst/>
          </a:prstGeom>
          <a:noFill/>
          <a:ln/>
        </p:spPr>
        <p:txBody>
          <a:bodyPr wrap="square" lIns="0" tIns="0" rIns="0" bIns="0" rtlCol="0" anchor="ctr"/>
          <a:lstStyle/>
          <a:p>
            <a:pPr marL="0" indent="0">
              <a:buNone/>
            </a:pPr>
            <a:r>
              <a:rPr lang="en-US" sz="1200" b="1" dirty="0">
                <a:solidFill>
                  <a:srgbClr val="0F172A"/>
                </a:solidFill>
              </a:rPr>
              <a:t>Test</a:t>
            </a:r>
            <a:endParaRPr lang="en-US" sz="1200" dirty="0"/>
          </a:p>
        </p:txBody>
      </p:sp>
      <p:sp>
        <p:nvSpPr>
          <p:cNvPr id="21" name="Text 19"/>
          <p:cNvSpPr/>
          <p:nvPr/>
        </p:nvSpPr>
        <p:spPr>
          <a:xfrm>
            <a:off x="8348472" y="3182112"/>
            <a:ext cx="2779776" cy="54864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Données gardées pour l’évaluation finale, une fois les choix terminés.</a:t>
            </a:r>
            <a:endParaRPr lang="en-US" sz="1050" dirty="0"/>
          </a:p>
        </p:txBody>
      </p:sp>
      <p:sp>
        <p:nvSpPr>
          <p:cNvPr id="22" name="Text 20"/>
          <p:cNvSpPr/>
          <p:nvPr/>
        </p:nvSpPr>
        <p:spPr>
          <a:xfrm>
            <a:off x="914400" y="5120640"/>
            <a:ext cx="10241280" cy="320040"/>
          </a:xfrm>
          <a:prstGeom prst="rect">
            <a:avLst/>
          </a:prstGeom>
          <a:noFill/>
          <a:ln/>
        </p:spPr>
        <p:txBody>
          <a:bodyPr wrap="square" lIns="0" tIns="0" rIns="0" bIns="0" rtlCol="0" anchor="ctr"/>
          <a:lstStyle/>
          <a:p>
            <a:pPr marL="0" indent="0" algn="ctr">
              <a:buNone/>
            </a:pPr>
            <a:r>
              <a:rPr lang="en-US" sz="1600" b="1" dirty="0">
                <a:solidFill>
                  <a:srgbClr val="0F172A"/>
                </a:solidFill>
              </a:rPr>
              <a:t>Le test final doit représenter des données que le modèle n’a jamais vues pendant l’apprentissage.</a:t>
            </a:r>
            <a:endParaRPr lang="en-US" sz="160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Évaluation du modèle</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Passer des prédictions aux indicateurs de performance</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Text 4"/>
          <p:cNvSpPr/>
          <p:nvPr/>
        </p:nvSpPr>
        <p:spPr>
          <a:xfrm>
            <a:off x="822960" y="1234440"/>
            <a:ext cx="4206240" cy="292608"/>
          </a:xfrm>
          <a:prstGeom prst="rect">
            <a:avLst/>
          </a:prstGeom>
          <a:noFill/>
          <a:ln/>
        </p:spPr>
        <p:txBody>
          <a:bodyPr wrap="square" lIns="0" tIns="0" rIns="0" bIns="0" rtlCol="0" anchor="ctr"/>
          <a:lstStyle/>
          <a:p>
            <a:pPr marL="0" indent="0">
              <a:buNone/>
            </a:pPr>
            <a:r>
              <a:rPr lang="en-US" sz="1800" b="1" dirty="0">
                <a:solidFill>
                  <a:srgbClr val="0F172A"/>
                </a:solidFill>
              </a:rPr>
              <a:t>Matrice de confusion</a:t>
            </a:r>
            <a:endParaRPr lang="en-US" sz="1800" dirty="0"/>
          </a:p>
        </p:txBody>
      </p:sp>
      <p:sp>
        <p:nvSpPr>
          <p:cNvPr id="7" name="Shape 5"/>
          <p:cNvSpPr/>
          <p:nvPr/>
        </p:nvSpPr>
        <p:spPr>
          <a:xfrm>
            <a:off x="1005840" y="1874520"/>
            <a:ext cx="1234440" cy="777240"/>
          </a:xfrm>
          <a:prstGeom prst="rect">
            <a:avLst/>
          </a:prstGeom>
          <a:solidFill>
            <a:srgbClr val="E2E8F0"/>
          </a:solidFill>
          <a:ln w="12700">
            <a:solidFill>
              <a:srgbClr val="FFFFFF"/>
            </a:solidFill>
            <a:prstDash val="solid"/>
          </a:ln>
        </p:spPr>
        <p:txBody>
          <a:bodyPr/>
          <a:lstStyle/>
          <a:p>
            <a:endParaRPr lang="fr-FR"/>
          </a:p>
        </p:txBody>
      </p:sp>
      <p:sp>
        <p:nvSpPr>
          <p:cNvPr id="8" name="Text 6"/>
          <p:cNvSpPr/>
          <p:nvPr/>
        </p:nvSpPr>
        <p:spPr>
          <a:xfrm>
            <a:off x="1005840" y="2130552"/>
            <a:ext cx="1234440" cy="146304"/>
          </a:xfrm>
          <a:prstGeom prst="rect">
            <a:avLst/>
          </a:prstGeom>
          <a:noFill/>
          <a:ln/>
        </p:spPr>
        <p:txBody>
          <a:bodyPr wrap="square" lIns="0" tIns="0" rIns="0" bIns="0" rtlCol="0" anchor="ctr"/>
          <a:lstStyle/>
          <a:p>
            <a:pPr marL="0" indent="0" algn="ctr">
              <a:buNone/>
            </a:pPr>
            <a:endParaRPr lang="en-US" sz="900" dirty="0"/>
          </a:p>
        </p:txBody>
      </p:sp>
      <p:sp>
        <p:nvSpPr>
          <p:cNvPr id="9" name="Shape 7"/>
          <p:cNvSpPr/>
          <p:nvPr/>
        </p:nvSpPr>
        <p:spPr>
          <a:xfrm>
            <a:off x="2240280" y="1874520"/>
            <a:ext cx="1234440" cy="777240"/>
          </a:xfrm>
          <a:prstGeom prst="rect">
            <a:avLst/>
          </a:prstGeom>
          <a:solidFill>
            <a:srgbClr val="E2E8F0"/>
          </a:solidFill>
          <a:ln w="12700">
            <a:solidFill>
              <a:srgbClr val="FFFFFF"/>
            </a:solidFill>
            <a:prstDash val="solid"/>
          </a:ln>
        </p:spPr>
        <p:txBody>
          <a:bodyPr/>
          <a:lstStyle/>
          <a:p>
            <a:endParaRPr lang="fr-FR"/>
          </a:p>
        </p:txBody>
      </p:sp>
      <p:sp>
        <p:nvSpPr>
          <p:cNvPr id="10" name="Text 8"/>
          <p:cNvSpPr/>
          <p:nvPr/>
        </p:nvSpPr>
        <p:spPr>
          <a:xfrm>
            <a:off x="2240280" y="2130552"/>
            <a:ext cx="1234440" cy="146304"/>
          </a:xfrm>
          <a:prstGeom prst="rect">
            <a:avLst/>
          </a:prstGeom>
          <a:noFill/>
          <a:ln/>
        </p:spPr>
        <p:txBody>
          <a:bodyPr wrap="square" lIns="0" tIns="0" rIns="0" bIns="0" rtlCol="0" anchor="ctr"/>
          <a:lstStyle/>
          <a:p>
            <a:pPr marL="0" indent="0" algn="ctr">
              <a:buNone/>
            </a:pPr>
            <a:r>
              <a:rPr lang="en-US" sz="900" dirty="0">
                <a:solidFill>
                  <a:srgbClr val="0F172A"/>
                </a:solidFill>
              </a:rPr>
              <a:t>Prédit 0</a:t>
            </a:r>
            <a:endParaRPr lang="en-US" sz="900" dirty="0"/>
          </a:p>
        </p:txBody>
      </p:sp>
      <p:sp>
        <p:nvSpPr>
          <p:cNvPr id="11" name="Shape 9"/>
          <p:cNvSpPr/>
          <p:nvPr/>
        </p:nvSpPr>
        <p:spPr>
          <a:xfrm>
            <a:off x="3474720" y="1874520"/>
            <a:ext cx="1234440" cy="777240"/>
          </a:xfrm>
          <a:prstGeom prst="rect">
            <a:avLst/>
          </a:prstGeom>
          <a:solidFill>
            <a:srgbClr val="E2E8F0"/>
          </a:solidFill>
          <a:ln w="12700">
            <a:solidFill>
              <a:srgbClr val="FFFFFF"/>
            </a:solidFill>
            <a:prstDash val="solid"/>
          </a:ln>
        </p:spPr>
        <p:txBody>
          <a:bodyPr/>
          <a:lstStyle/>
          <a:p>
            <a:endParaRPr lang="fr-FR"/>
          </a:p>
        </p:txBody>
      </p:sp>
      <p:sp>
        <p:nvSpPr>
          <p:cNvPr id="12" name="Text 10"/>
          <p:cNvSpPr/>
          <p:nvPr/>
        </p:nvSpPr>
        <p:spPr>
          <a:xfrm>
            <a:off x="3474720" y="2130552"/>
            <a:ext cx="1234440" cy="146304"/>
          </a:xfrm>
          <a:prstGeom prst="rect">
            <a:avLst/>
          </a:prstGeom>
          <a:noFill/>
          <a:ln/>
        </p:spPr>
        <p:txBody>
          <a:bodyPr wrap="square" lIns="0" tIns="0" rIns="0" bIns="0" rtlCol="0" anchor="ctr"/>
          <a:lstStyle/>
          <a:p>
            <a:pPr marL="0" indent="0" algn="ctr">
              <a:buNone/>
            </a:pPr>
            <a:r>
              <a:rPr lang="en-US" sz="900" dirty="0">
                <a:solidFill>
                  <a:srgbClr val="0F172A"/>
                </a:solidFill>
              </a:rPr>
              <a:t>Prédit 1</a:t>
            </a:r>
            <a:endParaRPr lang="en-US" sz="900" dirty="0"/>
          </a:p>
        </p:txBody>
      </p:sp>
      <p:sp>
        <p:nvSpPr>
          <p:cNvPr id="13" name="Shape 11"/>
          <p:cNvSpPr/>
          <p:nvPr/>
        </p:nvSpPr>
        <p:spPr>
          <a:xfrm>
            <a:off x="1005840" y="2651760"/>
            <a:ext cx="1234440" cy="777240"/>
          </a:xfrm>
          <a:prstGeom prst="rect">
            <a:avLst/>
          </a:prstGeom>
          <a:solidFill>
            <a:srgbClr val="E2E8F0"/>
          </a:solidFill>
          <a:ln w="12700">
            <a:solidFill>
              <a:srgbClr val="FFFFFF"/>
            </a:solidFill>
            <a:prstDash val="solid"/>
          </a:ln>
        </p:spPr>
        <p:txBody>
          <a:bodyPr/>
          <a:lstStyle/>
          <a:p>
            <a:endParaRPr lang="fr-FR"/>
          </a:p>
        </p:txBody>
      </p:sp>
      <p:sp>
        <p:nvSpPr>
          <p:cNvPr id="14" name="Text 12"/>
          <p:cNvSpPr/>
          <p:nvPr/>
        </p:nvSpPr>
        <p:spPr>
          <a:xfrm>
            <a:off x="1005840" y="2907792"/>
            <a:ext cx="1234440" cy="146304"/>
          </a:xfrm>
          <a:prstGeom prst="rect">
            <a:avLst/>
          </a:prstGeom>
          <a:noFill/>
          <a:ln/>
        </p:spPr>
        <p:txBody>
          <a:bodyPr wrap="square" lIns="0" tIns="0" rIns="0" bIns="0" rtlCol="0" anchor="ctr"/>
          <a:lstStyle/>
          <a:p>
            <a:pPr marL="0" indent="0" algn="ctr">
              <a:buNone/>
            </a:pPr>
            <a:r>
              <a:rPr lang="en-US" sz="900" dirty="0">
                <a:solidFill>
                  <a:srgbClr val="0F172A"/>
                </a:solidFill>
              </a:rPr>
              <a:t>Réel 0</a:t>
            </a:r>
            <a:endParaRPr lang="en-US" sz="900" dirty="0"/>
          </a:p>
        </p:txBody>
      </p:sp>
      <p:sp>
        <p:nvSpPr>
          <p:cNvPr id="15" name="Shape 13"/>
          <p:cNvSpPr/>
          <p:nvPr/>
        </p:nvSpPr>
        <p:spPr>
          <a:xfrm>
            <a:off x="2240280" y="2651760"/>
            <a:ext cx="1234440" cy="777240"/>
          </a:xfrm>
          <a:prstGeom prst="rect">
            <a:avLst/>
          </a:prstGeom>
          <a:solidFill>
            <a:srgbClr val="DCFCE7"/>
          </a:solidFill>
          <a:ln w="12700">
            <a:solidFill>
              <a:srgbClr val="FFFFFF"/>
            </a:solidFill>
            <a:prstDash val="solid"/>
          </a:ln>
        </p:spPr>
        <p:txBody>
          <a:bodyPr/>
          <a:lstStyle/>
          <a:p>
            <a:endParaRPr lang="fr-FR"/>
          </a:p>
        </p:txBody>
      </p:sp>
      <p:sp>
        <p:nvSpPr>
          <p:cNvPr id="16" name="Text 14"/>
          <p:cNvSpPr/>
          <p:nvPr/>
        </p:nvSpPr>
        <p:spPr>
          <a:xfrm>
            <a:off x="2240280" y="2907792"/>
            <a:ext cx="1234440" cy="146304"/>
          </a:xfrm>
          <a:prstGeom prst="rect">
            <a:avLst/>
          </a:prstGeom>
          <a:noFill/>
          <a:ln/>
        </p:spPr>
        <p:txBody>
          <a:bodyPr wrap="square" lIns="0" tIns="0" rIns="0" bIns="0" rtlCol="0" anchor="ctr"/>
          <a:lstStyle/>
          <a:p>
            <a:pPr marL="0" indent="0" algn="ctr">
              <a:buNone/>
            </a:pPr>
            <a:r>
              <a:rPr lang="en-US" sz="1400" b="1" dirty="0">
                <a:solidFill>
                  <a:srgbClr val="0F172A"/>
                </a:solidFill>
              </a:rPr>
              <a:t>TN</a:t>
            </a:r>
            <a:endParaRPr lang="en-US" sz="1400" dirty="0"/>
          </a:p>
        </p:txBody>
      </p:sp>
      <p:sp>
        <p:nvSpPr>
          <p:cNvPr id="17" name="Shape 15"/>
          <p:cNvSpPr/>
          <p:nvPr/>
        </p:nvSpPr>
        <p:spPr>
          <a:xfrm>
            <a:off x="3474720" y="2651760"/>
            <a:ext cx="1234440" cy="777240"/>
          </a:xfrm>
          <a:prstGeom prst="rect">
            <a:avLst/>
          </a:prstGeom>
          <a:solidFill>
            <a:srgbClr val="FEE2E2"/>
          </a:solidFill>
          <a:ln w="12700">
            <a:solidFill>
              <a:srgbClr val="FFFFFF"/>
            </a:solidFill>
            <a:prstDash val="solid"/>
          </a:ln>
        </p:spPr>
        <p:txBody>
          <a:bodyPr/>
          <a:lstStyle/>
          <a:p>
            <a:endParaRPr lang="fr-FR"/>
          </a:p>
        </p:txBody>
      </p:sp>
      <p:sp>
        <p:nvSpPr>
          <p:cNvPr id="18" name="Text 16"/>
          <p:cNvSpPr/>
          <p:nvPr/>
        </p:nvSpPr>
        <p:spPr>
          <a:xfrm>
            <a:off x="3474720" y="2907792"/>
            <a:ext cx="1234440" cy="146304"/>
          </a:xfrm>
          <a:prstGeom prst="rect">
            <a:avLst/>
          </a:prstGeom>
          <a:noFill/>
          <a:ln/>
        </p:spPr>
        <p:txBody>
          <a:bodyPr wrap="square" lIns="0" tIns="0" rIns="0" bIns="0" rtlCol="0" anchor="ctr"/>
          <a:lstStyle/>
          <a:p>
            <a:pPr marL="0" indent="0" algn="ctr">
              <a:buNone/>
            </a:pPr>
            <a:r>
              <a:rPr lang="en-US" sz="1400" b="1" dirty="0">
                <a:solidFill>
                  <a:srgbClr val="0F172A"/>
                </a:solidFill>
              </a:rPr>
              <a:t>FP</a:t>
            </a:r>
            <a:endParaRPr lang="en-US" sz="1400" dirty="0"/>
          </a:p>
        </p:txBody>
      </p:sp>
      <p:sp>
        <p:nvSpPr>
          <p:cNvPr id="19" name="Shape 17"/>
          <p:cNvSpPr/>
          <p:nvPr/>
        </p:nvSpPr>
        <p:spPr>
          <a:xfrm>
            <a:off x="1005840" y="3429000"/>
            <a:ext cx="1234440" cy="777240"/>
          </a:xfrm>
          <a:prstGeom prst="rect">
            <a:avLst/>
          </a:prstGeom>
          <a:solidFill>
            <a:srgbClr val="E2E8F0"/>
          </a:solidFill>
          <a:ln w="12700">
            <a:solidFill>
              <a:srgbClr val="FFFFFF"/>
            </a:solidFill>
            <a:prstDash val="solid"/>
          </a:ln>
        </p:spPr>
        <p:txBody>
          <a:bodyPr/>
          <a:lstStyle/>
          <a:p>
            <a:endParaRPr lang="fr-FR"/>
          </a:p>
        </p:txBody>
      </p:sp>
      <p:sp>
        <p:nvSpPr>
          <p:cNvPr id="20" name="Text 18"/>
          <p:cNvSpPr/>
          <p:nvPr/>
        </p:nvSpPr>
        <p:spPr>
          <a:xfrm>
            <a:off x="1005840" y="3685032"/>
            <a:ext cx="1234440" cy="146304"/>
          </a:xfrm>
          <a:prstGeom prst="rect">
            <a:avLst/>
          </a:prstGeom>
          <a:noFill/>
          <a:ln/>
        </p:spPr>
        <p:txBody>
          <a:bodyPr wrap="square" lIns="0" tIns="0" rIns="0" bIns="0" rtlCol="0" anchor="ctr"/>
          <a:lstStyle/>
          <a:p>
            <a:pPr marL="0" indent="0" algn="ctr">
              <a:buNone/>
            </a:pPr>
            <a:r>
              <a:rPr lang="en-US" sz="900" dirty="0">
                <a:solidFill>
                  <a:srgbClr val="0F172A"/>
                </a:solidFill>
              </a:rPr>
              <a:t>Réel 1</a:t>
            </a:r>
            <a:endParaRPr lang="en-US" sz="900" dirty="0"/>
          </a:p>
        </p:txBody>
      </p:sp>
      <p:sp>
        <p:nvSpPr>
          <p:cNvPr id="21" name="Shape 19"/>
          <p:cNvSpPr/>
          <p:nvPr/>
        </p:nvSpPr>
        <p:spPr>
          <a:xfrm>
            <a:off x="2240280" y="3429000"/>
            <a:ext cx="1234440" cy="777240"/>
          </a:xfrm>
          <a:prstGeom prst="rect">
            <a:avLst/>
          </a:prstGeom>
          <a:solidFill>
            <a:srgbClr val="FEE2E2"/>
          </a:solidFill>
          <a:ln w="12700">
            <a:solidFill>
              <a:srgbClr val="FFFFFF"/>
            </a:solidFill>
            <a:prstDash val="solid"/>
          </a:ln>
        </p:spPr>
        <p:txBody>
          <a:bodyPr/>
          <a:lstStyle/>
          <a:p>
            <a:endParaRPr lang="fr-FR"/>
          </a:p>
        </p:txBody>
      </p:sp>
      <p:sp>
        <p:nvSpPr>
          <p:cNvPr id="22" name="Text 20"/>
          <p:cNvSpPr/>
          <p:nvPr/>
        </p:nvSpPr>
        <p:spPr>
          <a:xfrm>
            <a:off x="2240280" y="3685032"/>
            <a:ext cx="1234440" cy="146304"/>
          </a:xfrm>
          <a:prstGeom prst="rect">
            <a:avLst/>
          </a:prstGeom>
          <a:noFill/>
          <a:ln/>
        </p:spPr>
        <p:txBody>
          <a:bodyPr wrap="square" lIns="0" tIns="0" rIns="0" bIns="0" rtlCol="0" anchor="ctr"/>
          <a:lstStyle/>
          <a:p>
            <a:pPr marL="0" indent="0" algn="ctr">
              <a:buNone/>
            </a:pPr>
            <a:r>
              <a:rPr lang="en-US" sz="1400" b="1" dirty="0">
                <a:solidFill>
                  <a:srgbClr val="0F172A"/>
                </a:solidFill>
              </a:rPr>
              <a:t>FN</a:t>
            </a:r>
            <a:endParaRPr lang="en-US" sz="1400" dirty="0"/>
          </a:p>
        </p:txBody>
      </p:sp>
      <p:sp>
        <p:nvSpPr>
          <p:cNvPr id="23" name="Shape 21"/>
          <p:cNvSpPr/>
          <p:nvPr/>
        </p:nvSpPr>
        <p:spPr>
          <a:xfrm>
            <a:off x="3474720" y="3429000"/>
            <a:ext cx="1234440" cy="777240"/>
          </a:xfrm>
          <a:prstGeom prst="rect">
            <a:avLst/>
          </a:prstGeom>
          <a:solidFill>
            <a:srgbClr val="DCFCE7"/>
          </a:solidFill>
          <a:ln w="12700">
            <a:solidFill>
              <a:srgbClr val="FFFFFF"/>
            </a:solidFill>
            <a:prstDash val="solid"/>
          </a:ln>
        </p:spPr>
        <p:txBody>
          <a:bodyPr/>
          <a:lstStyle/>
          <a:p>
            <a:endParaRPr lang="fr-FR"/>
          </a:p>
        </p:txBody>
      </p:sp>
      <p:sp>
        <p:nvSpPr>
          <p:cNvPr id="24" name="Text 22"/>
          <p:cNvSpPr/>
          <p:nvPr/>
        </p:nvSpPr>
        <p:spPr>
          <a:xfrm>
            <a:off x="3474720" y="3685032"/>
            <a:ext cx="1234440" cy="146304"/>
          </a:xfrm>
          <a:prstGeom prst="rect">
            <a:avLst/>
          </a:prstGeom>
          <a:noFill/>
          <a:ln/>
        </p:spPr>
        <p:txBody>
          <a:bodyPr wrap="square" lIns="0" tIns="0" rIns="0" bIns="0" rtlCol="0" anchor="ctr"/>
          <a:lstStyle/>
          <a:p>
            <a:pPr marL="0" indent="0" algn="ctr">
              <a:buNone/>
            </a:pPr>
            <a:r>
              <a:rPr lang="en-US" sz="1400" b="1" dirty="0">
                <a:solidFill>
                  <a:srgbClr val="0F172A"/>
                </a:solidFill>
              </a:rPr>
              <a:t>TP</a:t>
            </a:r>
            <a:endParaRPr lang="en-US" sz="1400" dirty="0"/>
          </a:p>
        </p:txBody>
      </p:sp>
      <p:sp>
        <p:nvSpPr>
          <p:cNvPr id="25" name="Text 23"/>
          <p:cNvSpPr/>
          <p:nvPr/>
        </p:nvSpPr>
        <p:spPr>
          <a:xfrm>
            <a:off x="5760720" y="1234440"/>
            <a:ext cx="4206240" cy="292608"/>
          </a:xfrm>
          <a:prstGeom prst="rect">
            <a:avLst/>
          </a:prstGeom>
          <a:noFill/>
          <a:ln/>
        </p:spPr>
        <p:txBody>
          <a:bodyPr wrap="square" lIns="0" tIns="0" rIns="0" bIns="0" rtlCol="0" anchor="ctr"/>
          <a:lstStyle/>
          <a:p>
            <a:pPr marL="0" indent="0">
              <a:buNone/>
            </a:pPr>
            <a:r>
              <a:rPr lang="en-US" sz="1800" b="1" dirty="0">
                <a:solidFill>
                  <a:srgbClr val="0F172A"/>
                </a:solidFill>
              </a:rPr>
              <a:t>Indicateurs</a:t>
            </a:r>
            <a:endParaRPr lang="en-US" sz="1800" dirty="0"/>
          </a:p>
        </p:txBody>
      </p:sp>
      <p:pic>
        <p:nvPicPr>
          <p:cNvPr id="2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06440" y="1737360"/>
            <a:ext cx="3566160" cy="411480"/>
          </a:xfrm>
          <a:prstGeom prst="rect">
            <a:avLst/>
          </a:prstGeom>
        </p:spPr>
      </p:pic>
      <p:pic>
        <p:nvPicPr>
          <p:cNvPr id="2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6440" y="2423160"/>
            <a:ext cx="2834640" cy="411480"/>
          </a:xfrm>
          <a:prstGeom prst="rect">
            <a:avLst/>
          </a:prstGeom>
        </p:spPr>
      </p:pic>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06440" y="3108960"/>
            <a:ext cx="2834640" cy="411480"/>
          </a:xfrm>
          <a:prstGeom prst="rect">
            <a:avLst/>
          </a:prstGeom>
        </p:spPr>
      </p:pic>
      <p:pic>
        <p:nvPicPr>
          <p:cNvPr id="2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06440" y="3794760"/>
            <a:ext cx="3840480" cy="411480"/>
          </a:xfrm>
          <a:prstGeom prst="rect">
            <a:avLst/>
          </a:prstGeom>
        </p:spPr>
      </p:pic>
      <p:sp>
        <p:nvSpPr>
          <p:cNvPr id="30" name="Text 24"/>
          <p:cNvSpPr/>
          <p:nvPr/>
        </p:nvSpPr>
        <p:spPr>
          <a:xfrm>
            <a:off x="822960" y="5257800"/>
            <a:ext cx="10515600" cy="292608"/>
          </a:xfrm>
          <a:prstGeom prst="rect">
            <a:avLst/>
          </a:prstGeom>
          <a:noFill/>
          <a:ln/>
        </p:spPr>
        <p:txBody>
          <a:bodyPr wrap="square" lIns="0" tIns="0" rIns="0" bIns="0" rtlCol="0" anchor="ctr"/>
          <a:lstStyle/>
          <a:p>
            <a:pPr marL="0" indent="0" algn="ctr">
              <a:buNone/>
            </a:pPr>
            <a:r>
              <a:rPr lang="en-US" sz="1500" b="1" dirty="0">
                <a:solidFill>
                  <a:srgbClr val="F59E0B"/>
                </a:solidFill>
              </a:rPr>
              <a:t>À insérer : vos valeurs finales sur l’ensemble de test.</a:t>
            </a:r>
            <a:endParaRPr lang="en-US" sz="1500" dirty="0"/>
          </a:p>
        </p:txBody>
      </p:sp>
      <p:sp>
        <p:nvSpPr>
          <p:cNvPr id="31"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Interprétation des coefficients</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Comprendre quelles variables influencent la prédiction</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graphicFrame>
        <p:nvGraphicFramePr>
          <p:cNvPr id="6" name="Chart 0"/>
          <p:cNvGraphicFramePr/>
          <p:nvPr/>
        </p:nvGraphicFramePr>
        <p:xfrm>
          <a:off x="868680" y="132588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903720" y="1417320"/>
            <a:ext cx="3840480" cy="2743200"/>
          </a:xfrm>
          <a:prstGeom prst="roundRect">
            <a:avLst/>
          </a:prstGeom>
          <a:solidFill>
            <a:srgbClr val="FFFFFF"/>
          </a:solidFill>
          <a:ln w="12700">
            <a:solidFill>
              <a:srgbClr val="CBD5E1"/>
            </a:solidFill>
            <a:prstDash val="solid"/>
          </a:ln>
        </p:spPr>
        <p:txBody>
          <a:bodyPr/>
          <a:lstStyle/>
          <a:p>
            <a:endParaRPr lang="fr-FR"/>
          </a:p>
        </p:txBody>
      </p:sp>
      <p:sp>
        <p:nvSpPr>
          <p:cNvPr id="8" name="Text 5"/>
          <p:cNvSpPr/>
          <p:nvPr/>
        </p:nvSpPr>
        <p:spPr>
          <a:xfrm>
            <a:off x="7178040" y="1691640"/>
            <a:ext cx="3200400" cy="256032"/>
          </a:xfrm>
          <a:prstGeom prst="rect">
            <a:avLst/>
          </a:prstGeom>
          <a:noFill/>
          <a:ln/>
        </p:spPr>
        <p:txBody>
          <a:bodyPr wrap="square" lIns="0" tIns="0" rIns="0" bIns="0" rtlCol="0" anchor="ctr"/>
          <a:lstStyle/>
          <a:p>
            <a:pPr marL="0" indent="0">
              <a:buNone/>
            </a:pPr>
            <a:r>
              <a:rPr lang="en-US" sz="1600" b="1" dirty="0">
                <a:solidFill>
                  <a:srgbClr val="0F172A"/>
                </a:solidFill>
              </a:rPr>
              <a:t>Comment lire w ?</a:t>
            </a:r>
            <a:endParaRPr lang="en-US" sz="1600" dirty="0"/>
          </a:p>
        </p:txBody>
      </p:sp>
      <p:sp>
        <p:nvSpPr>
          <p:cNvPr id="9" name="Text 6"/>
          <p:cNvSpPr/>
          <p:nvPr/>
        </p:nvSpPr>
        <p:spPr>
          <a:xfrm>
            <a:off x="7178040" y="2148840"/>
            <a:ext cx="3383280" cy="292608"/>
          </a:xfrm>
          <a:prstGeom prst="rect">
            <a:avLst/>
          </a:prstGeom>
          <a:noFill/>
          <a:ln/>
        </p:spPr>
        <p:txBody>
          <a:bodyPr wrap="square" lIns="0" tIns="0" rIns="0" bIns="0" rtlCol="0" anchor="ctr">
            <a:normAutofit/>
          </a:bodyPr>
          <a:lstStyle/>
          <a:p>
            <a:pPr marL="0" indent="0">
              <a:buNone/>
            </a:pPr>
            <a:r>
              <a:rPr lang="en-US" sz="1150" b="1" dirty="0">
                <a:solidFill>
                  <a:srgbClr val="10B981"/>
                </a:solidFill>
              </a:rPr>
              <a:t>• </a:t>
            </a:r>
            <a:r>
              <a:rPr lang="en-US" sz="1150" dirty="0">
                <a:solidFill>
                  <a:srgbClr val="0F172A"/>
                </a:solidFill>
              </a:rPr>
              <a:t>w &gt; 0 : augmente la probabilité de la classe 1.</a:t>
            </a:r>
            <a:endParaRPr lang="en-US" sz="1150" dirty="0"/>
          </a:p>
        </p:txBody>
      </p:sp>
      <p:sp>
        <p:nvSpPr>
          <p:cNvPr id="10" name="Text 7"/>
          <p:cNvSpPr/>
          <p:nvPr/>
        </p:nvSpPr>
        <p:spPr>
          <a:xfrm>
            <a:off x="7178040" y="2697480"/>
            <a:ext cx="3383280" cy="292608"/>
          </a:xfrm>
          <a:prstGeom prst="rect">
            <a:avLst/>
          </a:prstGeom>
          <a:noFill/>
          <a:ln/>
        </p:spPr>
        <p:txBody>
          <a:bodyPr wrap="square" lIns="0" tIns="0" rIns="0" bIns="0" rtlCol="0" anchor="ctr">
            <a:normAutofit/>
          </a:bodyPr>
          <a:lstStyle/>
          <a:p>
            <a:pPr marL="0" indent="0">
              <a:buNone/>
            </a:pPr>
            <a:r>
              <a:rPr lang="en-US" sz="1150" b="1" dirty="0">
                <a:solidFill>
                  <a:srgbClr val="EF4444"/>
                </a:solidFill>
              </a:rPr>
              <a:t>• </a:t>
            </a:r>
            <a:r>
              <a:rPr lang="en-US" sz="1150" dirty="0">
                <a:solidFill>
                  <a:srgbClr val="0F172A"/>
                </a:solidFill>
              </a:rPr>
              <a:t>w &lt; 0 : diminue la probabilité de la classe 1.</a:t>
            </a:r>
            <a:endParaRPr lang="en-US" sz="1150" dirty="0"/>
          </a:p>
        </p:txBody>
      </p:sp>
      <p:sp>
        <p:nvSpPr>
          <p:cNvPr id="11" name="Text 8"/>
          <p:cNvSpPr/>
          <p:nvPr/>
        </p:nvSpPr>
        <p:spPr>
          <a:xfrm>
            <a:off x="7178040" y="3246120"/>
            <a:ext cx="3383280" cy="292608"/>
          </a:xfrm>
          <a:prstGeom prst="rect">
            <a:avLst/>
          </a:prstGeom>
          <a:noFill/>
          <a:ln/>
        </p:spPr>
        <p:txBody>
          <a:bodyPr wrap="square" lIns="0" tIns="0" rIns="0" bIns="0" rtlCol="0" anchor="ctr">
            <a:normAutofit/>
          </a:bodyPr>
          <a:lstStyle/>
          <a:p>
            <a:pPr marL="0" indent="0">
              <a:buNone/>
            </a:pPr>
            <a:r>
              <a:rPr lang="en-US" sz="1150" b="1" dirty="0">
                <a:solidFill>
                  <a:srgbClr val="1D4ED8"/>
                </a:solidFill>
              </a:rPr>
              <a:t>• </a:t>
            </a:r>
            <a:r>
              <a:rPr lang="en-US" sz="1150" dirty="0">
                <a:solidFill>
                  <a:srgbClr val="0F172A"/>
                </a:solidFill>
              </a:rPr>
              <a:t>|w| grand : variable plus influente.</a:t>
            </a:r>
            <a:endParaRPr lang="en-US" sz="1150" dirty="0"/>
          </a:p>
        </p:txBody>
      </p:sp>
      <p:sp>
        <p:nvSpPr>
          <p:cNvPr id="12" name="Text 9"/>
          <p:cNvSpPr/>
          <p:nvPr/>
        </p:nvSpPr>
        <p:spPr>
          <a:xfrm>
            <a:off x="914400" y="5257800"/>
            <a:ext cx="10241280" cy="320040"/>
          </a:xfrm>
          <a:prstGeom prst="rect">
            <a:avLst/>
          </a:prstGeom>
          <a:noFill/>
          <a:ln/>
        </p:spPr>
        <p:txBody>
          <a:bodyPr wrap="square" lIns="0" tIns="0" rIns="0" bIns="0" rtlCol="0" anchor="ctr"/>
          <a:lstStyle/>
          <a:p>
            <a:pPr marL="0" indent="0" algn="ctr">
              <a:buNone/>
            </a:pPr>
            <a:r>
              <a:rPr lang="en-US" sz="1450" b="1" dirty="0">
                <a:solidFill>
                  <a:srgbClr val="0F172A"/>
                </a:solidFill>
              </a:rPr>
              <a:t>Après standardisation, comparer les coefficients est plus pertinent car les variables sont sur une échelle comparable.</a:t>
            </a:r>
            <a:endParaRPr lang="en-US" sz="145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Défis rencontrés et solutions apportées</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Montrer la démarche de résolution, pas seulement le résultat</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Text 4"/>
          <p:cNvSpPr/>
          <p:nvPr/>
        </p:nvSpPr>
        <p:spPr>
          <a:xfrm>
            <a:off x="914400" y="1234440"/>
            <a:ext cx="4206240" cy="274320"/>
          </a:xfrm>
          <a:prstGeom prst="rect">
            <a:avLst/>
          </a:prstGeom>
          <a:noFill/>
          <a:ln/>
        </p:spPr>
        <p:txBody>
          <a:bodyPr wrap="square" lIns="0" tIns="0" rIns="0" bIns="0" rtlCol="0" anchor="ctr"/>
          <a:lstStyle/>
          <a:p>
            <a:pPr marL="0" indent="0">
              <a:buNone/>
            </a:pPr>
            <a:r>
              <a:rPr lang="en-US" sz="1500" b="1" dirty="0">
                <a:solidFill>
                  <a:srgbClr val="1D4ED8"/>
                </a:solidFill>
              </a:rPr>
              <a:t>Défi</a:t>
            </a:r>
            <a:endParaRPr lang="en-US" sz="1500" dirty="0"/>
          </a:p>
        </p:txBody>
      </p:sp>
      <p:sp>
        <p:nvSpPr>
          <p:cNvPr id="7" name="Text 5"/>
          <p:cNvSpPr/>
          <p:nvPr/>
        </p:nvSpPr>
        <p:spPr>
          <a:xfrm>
            <a:off x="5943600" y="1234440"/>
            <a:ext cx="4206240" cy="274320"/>
          </a:xfrm>
          <a:prstGeom prst="rect">
            <a:avLst/>
          </a:prstGeom>
          <a:noFill/>
          <a:ln/>
        </p:spPr>
        <p:txBody>
          <a:bodyPr wrap="square" lIns="0" tIns="0" rIns="0" bIns="0" rtlCol="0" anchor="ctr"/>
          <a:lstStyle/>
          <a:p>
            <a:pPr marL="0" indent="0">
              <a:buNone/>
            </a:pPr>
            <a:r>
              <a:rPr lang="en-US" sz="1500" b="1" dirty="0">
                <a:solidFill>
                  <a:srgbClr val="10B981"/>
                </a:solidFill>
              </a:rPr>
              <a:t>Solution</a:t>
            </a:r>
            <a:endParaRPr lang="en-US" sz="1500" dirty="0"/>
          </a:p>
        </p:txBody>
      </p:sp>
      <p:sp>
        <p:nvSpPr>
          <p:cNvPr id="8" name="Shape 6"/>
          <p:cNvSpPr/>
          <p:nvPr/>
        </p:nvSpPr>
        <p:spPr>
          <a:xfrm>
            <a:off x="822960" y="1691640"/>
            <a:ext cx="4389120" cy="502920"/>
          </a:xfrm>
          <a:prstGeom prst="roundRect">
            <a:avLst/>
          </a:prstGeom>
          <a:solidFill>
            <a:srgbClr val="EEF6FF"/>
          </a:solidFill>
          <a:ln w="10160">
            <a:solidFill>
              <a:srgbClr val="1D4ED8"/>
            </a:solidFill>
            <a:prstDash val="solid"/>
          </a:ln>
        </p:spPr>
        <p:txBody>
          <a:bodyPr/>
          <a:lstStyle/>
          <a:p>
            <a:endParaRPr lang="fr-FR"/>
          </a:p>
        </p:txBody>
      </p:sp>
      <p:sp>
        <p:nvSpPr>
          <p:cNvPr id="9" name="Text 7"/>
          <p:cNvSpPr/>
          <p:nvPr/>
        </p:nvSpPr>
        <p:spPr>
          <a:xfrm>
            <a:off x="1051560" y="1837944"/>
            <a:ext cx="3886200" cy="109728"/>
          </a:xfrm>
          <a:prstGeom prst="rect">
            <a:avLst/>
          </a:prstGeom>
          <a:noFill/>
          <a:ln/>
        </p:spPr>
        <p:txBody>
          <a:bodyPr wrap="square" lIns="0" tIns="0" rIns="0" bIns="0" rtlCol="0" anchor="ctr"/>
          <a:lstStyle/>
          <a:p>
            <a:pPr marL="0" indent="0">
              <a:buNone/>
            </a:pPr>
            <a:r>
              <a:rPr lang="en-US" sz="1080" b="1" dirty="0">
                <a:solidFill>
                  <a:srgbClr val="0F172A"/>
                </a:solidFill>
              </a:rPr>
              <a:t>Implémenter sans scikit-learn</a:t>
            </a:r>
            <a:endParaRPr lang="en-US" sz="1080" dirty="0"/>
          </a:p>
        </p:txBody>
      </p:sp>
      <p:sp>
        <p:nvSpPr>
          <p:cNvPr id="10" name="Shape 8"/>
          <p:cNvSpPr/>
          <p:nvPr/>
        </p:nvSpPr>
        <p:spPr>
          <a:xfrm>
            <a:off x="5349240" y="1947672"/>
            <a:ext cx="365760" cy="0"/>
          </a:xfrm>
          <a:prstGeom prst="line">
            <a:avLst/>
          </a:prstGeom>
          <a:noFill/>
          <a:ln w="25400">
            <a:solidFill>
              <a:srgbClr val="CBD5E1"/>
            </a:solidFill>
            <a:prstDash val="solid"/>
            <a:headEnd type="none"/>
            <a:tailEnd type="triangle"/>
          </a:ln>
        </p:spPr>
        <p:txBody>
          <a:bodyPr/>
          <a:lstStyle/>
          <a:p>
            <a:endParaRPr lang="fr-FR"/>
          </a:p>
        </p:txBody>
      </p:sp>
      <p:sp>
        <p:nvSpPr>
          <p:cNvPr id="11" name="Shape 9"/>
          <p:cNvSpPr/>
          <p:nvPr/>
        </p:nvSpPr>
        <p:spPr>
          <a:xfrm>
            <a:off x="5897880" y="1691640"/>
            <a:ext cx="5120640" cy="502920"/>
          </a:xfrm>
          <a:prstGeom prst="roundRect">
            <a:avLst/>
          </a:prstGeom>
          <a:solidFill>
            <a:srgbClr val="DCFCE7"/>
          </a:solidFill>
          <a:ln w="10160">
            <a:solidFill>
              <a:srgbClr val="10B981"/>
            </a:solidFill>
            <a:prstDash val="solid"/>
          </a:ln>
        </p:spPr>
        <p:txBody>
          <a:bodyPr/>
          <a:lstStyle/>
          <a:p>
            <a:endParaRPr lang="fr-FR"/>
          </a:p>
        </p:txBody>
      </p:sp>
      <p:sp>
        <p:nvSpPr>
          <p:cNvPr id="12" name="Text 10"/>
          <p:cNvSpPr/>
          <p:nvPr/>
        </p:nvSpPr>
        <p:spPr>
          <a:xfrm>
            <a:off x="6126480" y="1819656"/>
            <a:ext cx="4617720" cy="137160"/>
          </a:xfrm>
          <a:prstGeom prst="rect">
            <a:avLst/>
          </a:prstGeom>
          <a:noFill/>
          <a:ln/>
        </p:spPr>
        <p:txBody>
          <a:bodyPr wrap="square" lIns="0" tIns="0" rIns="0" bIns="0" rtlCol="0" anchor="ctr">
            <a:normAutofit fontScale="92500" lnSpcReduction="20000"/>
          </a:bodyPr>
          <a:lstStyle/>
          <a:p>
            <a:pPr marL="0" indent="0">
              <a:buNone/>
            </a:pPr>
            <a:r>
              <a:rPr lang="en-US" sz="1040" dirty="0">
                <a:solidFill>
                  <a:srgbClr val="0F172A"/>
                </a:solidFill>
              </a:rPr>
              <a:t>Découper le modèle en petites fonctions vérifiables.</a:t>
            </a:r>
            <a:endParaRPr lang="en-US" sz="1040" dirty="0"/>
          </a:p>
        </p:txBody>
      </p:sp>
      <p:sp>
        <p:nvSpPr>
          <p:cNvPr id="13" name="Shape 11"/>
          <p:cNvSpPr/>
          <p:nvPr/>
        </p:nvSpPr>
        <p:spPr>
          <a:xfrm>
            <a:off x="822960" y="2423160"/>
            <a:ext cx="4389120" cy="502920"/>
          </a:xfrm>
          <a:prstGeom prst="roundRect">
            <a:avLst/>
          </a:prstGeom>
          <a:solidFill>
            <a:srgbClr val="EEF6FF"/>
          </a:solidFill>
          <a:ln w="10160">
            <a:solidFill>
              <a:srgbClr val="1D4ED8"/>
            </a:solidFill>
            <a:prstDash val="solid"/>
          </a:ln>
        </p:spPr>
        <p:txBody>
          <a:bodyPr/>
          <a:lstStyle/>
          <a:p>
            <a:endParaRPr lang="fr-FR"/>
          </a:p>
        </p:txBody>
      </p:sp>
      <p:sp>
        <p:nvSpPr>
          <p:cNvPr id="14" name="Text 12"/>
          <p:cNvSpPr/>
          <p:nvPr/>
        </p:nvSpPr>
        <p:spPr>
          <a:xfrm>
            <a:off x="1051560" y="2569464"/>
            <a:ext cx="3886200" cy="109728"/>
          </a:xfrm>
          <a:prstGeom prst="rect">
            <a:avLst/>
          </a:prstGeom>
          <a:noFill/>
          <a:ln/>
        </p:spPr>
        <p:txBody>
          <a:bodyPr wrap="square" lIns="0" tIns="0" rIns="0" bIns="0" rtlCol="0" anchor="ctr"/>
          <a:lstStyle/>
          <a:p>
            <a:pPr marL="0" indent="0">
              <a:buNone/>
            </a:pPr>
            <a:r>
              <a:rPr lang="en-US" sz="1080" b="1" dirty="0">
                <a:solidFill>
                  <a:srgbClr val="0F172A"/>
                </a:solidFill>
              </a:rPr>
              <a:t>Calculer les gradients</a:t>
            </a:r>
            <a:endParaRPr lang="en-US" sz="1080" dirty="0"/>
          </a:p>
        </p:txBody>
      </p:sp>
      <p:sp>
        <p:nvSpPr>
          <p:cNvPr id="15" name="Shape 13"/>
          <p:cNvSpPr/>
          <p:nvPr/>
        </p:nvSpPr>
        <p:spPr>
          <a:xfrm>
            <a:off x="5349240" y="2679192"/>
            <a:ext cx="365760" cy="0"/>
          </a:xfrm>
          <a:prstGeom prst="line">
            <a:avLst/>
          </a:prstGeom>
          <a:noFill/>
          <a:ln w="25400">
            <a:solidFill>
              <a:srgbClr val="CBD5E1"/>
            </a:solidFill>
            <a:prstDash val="solid"/>
            <a:headEnd type="none"/>
            <a:tailEnd type="triangle"/>
          </a:ln>
        </p:spPr>
        <p:txBody>
          <a:bodyPr/>
          <a:lstStyle/>
          <a:p>
            <a:endParaRPr lang="fr-FR"/>
          </a:p>
        </p:txBody>
      </p:sp>
      <p:sp>
        <p:nvSpPr>
          <p:cNvPr id="16" name="Shape 14"/>
          <p:cNvSpPr/>
          <p:nvPr/>
        </p:nvSpPr>
        <p:spPr>
          <a:xfrm>
            <a:off x="5897880" y="2423160"/>
            <a:ext cx="5120640" cy="502920"/>
          </a:xfrm>
          <a:prstGeom prst="roundRect">
            <a:avLst/>
          </a:prstGeom>
          <a:solidFill>
            <a:srgbClr val="DCFCE7"/>
          </a:solidFill>
          <a:ln w="10160">
            <a:solidFill>
              <a:srgbClr val="10B981"/>
            </a:solidFill>
            <a:prstDash val="solid"/>
          </a:ln>
        </p:spPr>
        <p:txBody>
          <a:bodyPr/>
          <a:lstStyle/>
          <a:p>
            <a:endParaRPr lang="fr-FR"/>
          </a:p>
        </p:txBody>
      </p:sp>
      <p:sp>
        <p:nvSpPr>
          <p:cNvPr id="17" name="Text 15"/>
          <p:cNvSpPr/>
          <p:nvPr/>
        </p:nvSpPr>
        <p:spPr>
          <a:xfrm>
            <a:off x="6126480" y="2551176"/>
            <a:ext cx="4617720" cy="137160"/>
          </a:xfrm>
          <a:prstGeom prst="rect">
            <a:avLst/>
          </a:prstGeom>
          <a:noFill/>
          <a:ln/>
        </p:spPr>
        <p:txBody>
          <a:bodyPr wrap="square" lIns="0" tIns="0" rIns="0" bIns="0" rtlCol="0" anchor="ctr">
            <a:normAutofit fontScale="92500" lnSpcReduction="20000"/>
          </a:bodyPr>
          <a:lstStyle/>
          <a:p>
            <a:pPr marL="0" indent="0">
              <a:buNone/>
            </a:pPr>
            <a:r>
              <a:rPr lang="en-US" sz="1040" dirty="0">
                <a:solidFill>
                  <a:srgbClr val="0F172A"/>
                </a:solidFill>
              </a:rPr>
              <a:t>Repartir des formules et vérifier les dimensions de X, y, w.</a:t>
            </a:r>
            <a:endParaRPr lang="en-US" sz="1040" dirty="0"/>
          </a:p>
        </p:txBody>
      </p:sp>
      <p:sp>
        <p:nvSpPr>
          <p:cNvPr id="18" name="Shape 16"/>
          <p:cNvSpPr/>
          <p:nvPr/>
        </p:nvSpPr>
        <p:spPr>
          <a:xfrm>
            <a:off x="822960" y="3154680"/>
            <a:ext cx="4389120" cy="502920"/>
          </a:xfrm>
          <a:prstGeom prst="roundRect">
            <a:avLst/>
          </a:prstGeom>
          <a:solidFill>
            <a:srgbClr val="EEF6FF"/>
          </a:solidFill>
          <a:ln w="10160">
            <a:solidFill>
              <a:srgbClr val="1D4ED8"/>
            </a:solidFill>
            <a:prstDash val="solid"/>
          </a:ln>
        </p:spPr>
        <p:txBody>
          <a:bodyPr/>
          <a:lstStyle/>
          <a:p>
            <a:endParaRPr lang="fr-FR"/>
          </a:p>
        </p:txBody>
      </p:sp>
      <p:sp>
        <p:nvSpPr>
          <p:cNvPr id="19" name="Text 17"/>
          <p:cNvSpPr/>
          <p:nvPr/>
        </p:nvSpPr>
        <p:spPr>
          <a:xfrm>
            <a:off x="1051560" y="3300984"/>
            <a:ext cx="3886200" cy="109728"/>
          </a:xfrm>
          <a:prstGeom prst="rect">
            <a:avLst/>
          </a:prstGeom>
          <a:noFill/>
          <a:ln/>
        </p:spPr>
        <p:txBody>
          <a:bodyPr wrap="square" lIns="0" tIns="0" rIns="0" bIns="0" rtlCol="0" anchor="ctr"/>
          <a:lstStyle/>
          <a:p>
            <a:pPr marL="0" indent="0">
              <a:buNone/>
            </a:pPr>
            <a:r>
              <a:rPr lang="en-US" sz="1080" b="1" dirty="0">
                <a:solidFill>
                  <a:srgbClr val="0F172A"/>
                </a:solidFill>
              </a:rPr>
              <a:t>Éviter les erreurs numériques</a:t>
            </a:r>
            <a:endParaRPr lang="en-US" sz="1080" dirty="0"/>
          </a:p>
        </p:txBody>
      </p:sp>
      <p:sp>
        <p:nvSpPr>
          <p:cNvPr id="20" name="Shape 18"/>
          <p:cNvSpPr/>
          <p:nvPr/>
        </p:nvSpPr>
        <p:spPr>
          <a:xfrm>
            <a:off x="5349240" y="3410712"/>
            <a:ext cx="365760" cy="0"/>
          </a:xfrm>
          <a:prstGeom prst="line">
            <a:avLst/>
          </a:prstGeom>
          <a:noFill/>
          <a:ln w="25400">
            <a:solidFill>
              <a:srgbClr val="CBD5E1"/>
            </a:solidFill>
            <a:prstDash val="solid"/>
            <a:headEnd type="none"/>
            <a:tailEnd type="triangle"/>
          </a:ln>
        </p:spPr>
        <p:txBody>
          <a:bodyPr/>
          <a:lstStyle/>
          <a:p>
            <a:endParaRPr lang="fr-FR"/>
          </a:p>
        </p:txBody>
      </p:sp>
      <p:sp>
        <p:nvSpPr>
          <p:cNvPr id="21" name="Shape 19"/>
          <p:cNvSpPr/>
          <p:nvPr/>
        </p:nvSpPr>
        <p:spPr>
          <a:xfrm>
            <a:off x="5897880" y="3154680"/>
            <a:ext cx="5120640" cy="502920"/>
          </a:xfrm>
          <a:prstGeom prst="roundRect">
            <a:avLst/>
          </a:prstGeom>
          <a:solidFill>
            <a:srgbClr val="DCFCE7"/>
          </a:solidFill>
          <a:ln w="10160">
            <a:solidFill>
              <a:srgbClr val="10B981"/>
            </a:solidFill>
            <a:prstDash val="solid"/>
          </a:ln>
        </p:spPr>
        <p:txBody>
          <a:bodyPr/>
          <a:lstStyle/>
          <a:p>
            <a:endParaRPr lang="fr-FR"/>
          </a:p>
        </p:txBody>
      </p:sp>
      <p:sp>
        <p:nvSpPr>
          <p:cNvPr id="22" name="Text 20"/>
          <p:cNvSpPr/>
          <p:nvPr/>
        </p:nvSpPr>
        <p:spPr>
          <a:xfrm>
            <a:off x="6126480" y="3282696"/>
            <a:ext cx="4617720" cy="137160"/>
          </a:xfrm>
          <a:prstGeom prst="rect">
            <a:avLst/>
          </a:prstGeom>
          <a:noFill/>
          <a:ln/>
        </p:spPr>
        <p:txBody>
          <a:bodyPr wrap="square" lIns="0" tIns="0" rIns="0" bIns="0" rtlCol="0" anchor="ctr">
            <a:normAutofit fontScale="92500" lnSpcReduction="20000"/>
          </a:bodyPr>
          <a:lstStyle/>
          <a:p>
            <a:pPr marL="0" indent="0">
              <a:buNone/>
            </a:pPr>
            <a:r>
              <a:rPr lang="en-US" sz="1040" dirty="0">
                <a:solidFill>
                  <a:srgbClr val="0F172A"/>
                </a:solidFill>
              </a:rPr>
              <a:t>Utiliser ε / np.clip dans la log-loss.</a:t>
            </a:r>
            <a:endParaRPr lang="en-US" sz="1040" dirty="0"/>
          </a:p>
        </p:txBody>
      </p:sp>
      <p:sp>
        <p:nvSpPr>
          <p:cNvPr id="23" name="Shape 21"/>
          <p:cNvSpPr/>
          <p:nvPr/>
        </p:nvSpPr>
        <p:spPr>
          <a:xfrm>
            <a:off x="822960" y="3886200"/>
            <a:ext cx="4389120" cy="502920"/>
          </a:xfrm>
          <a:prstGeom prst="roundRect">
            <a:avLst/>
          </a:prstGeom>
          <a:solidFill>
            <a:srgbClr val="EEF6FF"/>
          </a:solidFill>
          <a:ln w="10160">
            <a:solidFill>
              <a:srgbClr val="1D4ED8"/>
            </a:solidFill>
            <a:prstDash val="solid"/>
          </a:ln>
        </p:spPr>
        <p:txBody>
          <a:bodyPr/>
          <a:lstStyle/>
          <a:p>
            <a:endParaRPr lang="fr-FR"/>
          </a:p>
        </p:txBody>
      </p:sp>
      <p:sp>
        <p:nvSpPr>
          <p:cNvPr id="24" name="Text 22"/>
          <p:cNvSpPr/>
          <p:nvPr/>
        </p:nvSpPr>
        <p:spPr>
          <a:xfrm>
            <a:off x="1051560" y="4032504"/>
            <a:ext cx="3886200" cy="109728"/>
          </a:xfrm>
          <a:prstGeom prst="rect">
            <a:avLst/>
          </a:prstGeom>
          <a:noFill/>
          <a:ln/>
        </p:spPr>
        <p:txBody>
          <a:bodyPr wrap="square" lIns="0" tIns="0" rIns="0" bIns="0" rtlCol="0" anchor="ctr"/>
          <a:lstStyle/>
          <a:p>
            <a:pPr marL="0" indent="0">
              <a:buNone/>
            </a:pPr>
            <a:r>
              <a:rPr lang="en-US" sz="1080" b="1" dirty="0">
                <a:solidFill>
                  <a:srgbClr val="0F172A"/>
                </a:solidFill>
              </a:rPr>
              <a:t>Choisir les hyperparamètres</a:t>
            </a:r>
            <a:endParaRPr lang="en-US" sz="1080" dirty="0"/>
          </a:p>
        </p:txBody>
      </p:sp>
      <p:sp>
        <p:nvSpPr>
          <p:cNvPr id="25" name="Shape 23"/>
          <p:cNvSpPr/>
          <p:nvPr/>
        </p:nvSpPr>
        <p:spPr>
          <a:xfrm>
            <a:off x="5349240" y="4142232"/>
            <a:ext cx="365760" cy="0"/>
          </a:xfrm>
          <a:prstGeom prst="line">
            <a:avLst/>
          </a:prstGeom>
          <a:noFill/>
          <a:ln w="25400">
            <a:solidFill>
              <a:srgbClr val="CBD5E1"/>
            </a:solidFill>
            <a:prstDash val="solid"/>
            <a:headEnd type="none"/>
            <a:tailEnd type="triangle"/>
          </a:ln>
        </p:spPr>
        <p:txBody>
          <a:bodyPr/>
          <a:lstStyle/>
          <a:p>
            <a:endParaRPr lang="fr-FR"/>
          </a:p>
        </p:txBody>
      </p:sp>
      <p:sp>
        <p:nvSpPr>
          <p:cNvPr id="26" name="Shape 24"/>
          <p:cNvSpPr/>
          <p:nvPr/>
        </p:nvSpPr>
        <p:spPr>
          <a:xfrm>
            <a:off x="5897880" y="3886200"/>
            <a:ext cx="5120640" cy="502920"/>
          </a:xfrm>
          <a:prstGeom prst="roundRect">
            <a:avLst/>
          </a:prstGeom>
          <a:solidFill>
            <a:srgbClr val="DCFCE7"/>
          </a:solidFill>
          <a:ln w="10160">
            <a:solidFill>
              <a:srgbClr val="10B981"/>
            </a:solidFill>
            <a:prstDash val="solid"/>
          </a:ln>
        </p:spPr>
        <p:txBody>
          <a:bodyPr/>
          <a:lstStyle/>
          <a:p>
            <a:endParaRPr lang="fr-FR"/>
          </a:p>
        </p:txBody>
      </p:sp>
      <p:sp>
        <p:nvSpPr>
          <p:cNvPr id="27" name="Text 25"/>
          <p:cNvSpPr/>
          <p:nvPr/>
        </p:nvSpPr>
        <p:spPr>
          <a:xfrm>
            <a:off x="6126480" y="4014216"/>
            <a:ext cx="4617720" cy="137160"/>
          </a:xfrm>
          <a:prstGeom prst="rect">
            <a:avLst/>
          </a:prstGeom>
          <a:noFill/>
          <a:ln/>
        </p:spPr>
        <p:txBody>
          <a:bodyPr wrap="square" lIns="0" tIns="0" rIns="0" bIns="0" rtlCol="0" anchor="ctr">
            <a:normAutofit fontScale="92500" lnSpcReduction="20000"/>
          </a:bodyPr>
          <a:lstStyle/>
          <a:p>
            <a:pPr marL="0" indent="0">
              <a:buNone/>
            </a:pPr>
            <a:r>
              <a:rPr lang="en-US" sz="1040" dirty="0">
                <a:solidFill>
                  <a:srgbClr val="0F172A"/>
                </a:solidFill>
              </a:rPr>
              <a:t>Comparer plusieurs learning rates et observer la courbe du coût.</a:t>
            </a:r>
            <a:endParaRPr lang="en-US" sz="1040" dirty="0"/>
          </a:p>
        </p:txBody>
      </p:sp>
      <p:sp>
        <p:nvSpPr>
          <p:cNvPr id="28" name="Shape 26"/>
          <p:cNvSpPr/>
          <p:nvPr/>
        </p:nvSpPr>
        <p:spPr>
          <a:xfrm>
            <a:off x="822960" y="4617720"/>
            <a:ext cx="4389120" cy="502920"/>
          </a:xfrm>
          <a:prstGeom prst="roundRect">
            <a:avLst/>
          </a:prstGeom>
          <a:solidFill>
            <a:srgbClr val="EEF6FF"/>
          </a:solidFill>
          <a:ln w="10160">
            <a:solidFill>
              <a:srgbClr val="1D4ED8"/>
            </a:solidFill>
            <a:prstDash val="solid"/>
          </a:ln>
        </p:spPr>
        <p:txBody>
          <a:bodyPr/>
          <a:lstStyle/>
          <a:p>
            <a:endParaRPr lang="fr-FR"/>
          </a:p>
        </p:txBody>
      </p:sp>
      <p:sp>
        <p:nvSpPr>
          <p:cNvPr id="29" name="Text 27"/>
          <p:cNvSpPr/>
          <p:nvPr/>
        </p:nvSpPr>
        <p:spPr>
          <a:xfrm>
            <a:off x="1051560" y="4764024"/>
            <a:ext cx="3886200" cy="109728"/>
          </a:xfrm>
          <a:prstGeom prst="rect">
            <a:avLst/>
          </a:prstGeom>
          <a:noFill/>
          <a:ln/>
        </p:spPr>
        <p:txBody>
          <a:bodyPr wrap="square" lIns="0" tIns="0" rIns="0" bIns="0" rtlCol="0" anchor="ctr"/>
          <a:lstStyle/>
          <a:p>
            <a:pPr marL="0" indent="0">
              <a:buNone/>
            </a:pPr>
            <a:r>
              <a:rPr lang="en-US" sz="1080" b="1" dirty="0">
                <a:solidFill>
                  <a:srgbClr val="0F172A"/>
                </a:solidFill>
              </a:rPr>
              <a:t>Interpréter les résultats</a:t>
            </a:r>
            <a:endParaRPr lang="en-US" sz="1080" dirty="0"/>
          </a:p>
        </p:txBody>
      </p:sp>
      <p:sp>
        <p:nvSpPr>
          <p:cNvPr id="30" name="Shape 28"/>
          <p:cNvSpPr/>
          <p:nvPr/>
        </p:nvSpPr>
        <p:spPr>
          <a:xfrm>
            <a:off x="5349240" y="4873752"/>
            <a:ext cx="365760" cy="0"/>
          </a:xfrm>
          <a:prstGeom prst="line">
            <a:avLst/>
          </a:prstGeom>
          <a:noFill/>
          <a:ln w="25400">
            <a:solidFill>
              <a:srgbClr val="CBD5E1"/>
            </a:solidFill>
            <a:prstDash val="solid"/>
            <a:headEnd type="none"/>
            <a:tailEnd type="triangle"/>
          </a:ln>
        </p:spPr>
        <p:txBody>
          <a:bodyPr/>
          <a:lstStyle/>
          <a:p>
            <a:endParaRPr lang="fr-FR"/>
          </a:p>
        </p:txBody>
      </p:sp>
      <p:sp>
        <p:nvSpPr>
          <p:cNvPr id="31" name="Shape 29"/>
          <p:cNvSpPr/>
          <p:nvPr/>
        </p:nvSpPr>
        <p:spPr>
          <a:xfrm>
            <a:off x="5897880" y="4617720"/>
            <a:ext cx="5120640" cy="502920"/>
          </a:xfrm>
          <a:prstGeom prst="roundRect">
            <a:avLst/>
          </a:prstGeom>
          <a:solidFill>
            <a:srgbClr val="DCFCE7"/>
          </a:solidFill>
          <a:ln w="10160">
            <a:solidFill>
              <a:srgbClr val="10B981"/>
            </a:solidFill>
            <a:prstDash val="solid"/>
          </a:ln>
        </p:spPr>
        <p:txBody>
          <a:bodyPr/>
          <a:lstStyle/>
          <a:p>
            <a:endParaRPr lang="fr-FR"/>
          </a:p>
        </p:txBody>
      </p:sp>
      <p:sp>
        <p:nvSpPr>
          <p:cNvPr id="32" name="Text 30"/>
          <p:cNvSpPr/>
          <p:nvPr/>
        </p:nvSpPr>
        <p:spPr>
          <a:xfrm>
            <a:off x="6126480" y="4745736"/>
            <a:ext cx="4617720" cy="137160"/>
          </a:xfrm>
          <a:prstGeom prst="rect">
            <a:avLst/>
          </a:prstGeom>
          <a:noFill/>
          <a:ln/>
        </p:spPr>
        <p:txBody>
          <a:bodyPr wrap="square" lIns="0" tIns="0" rIns="0" bIns="0" rtlCol="0" anchor="ctr">
            <a:normAutofit fontScale="92500" lnSpcReduction="20000"/>
          </a:bodyPr>
          <a:lstStyle/>
          <a:p>
            <a:pPr marL="0" indent="0">
              <a:buNone/>
            </a:pPr>
            <a:r>
              <a:rPr lang="en-US" sz="1040" dirty="0">
                <a:solidFill>
                  <a:srgbClr val="0F172A"/>
                </a:solidFill>
              </a:rPr>
              <a:t>Afficher la matrice de confusion et les coefficients.</a:t>
            </a:r>
            <a:endParaRPr lang="en-US" sz="1040" dirty="0"/>
          </a:p>
        </p:txBody>
      </p:sp>
      <p:sp>
        <p:nvSpPr>
          <p:cNvPr id="33" name="Text 31"/>
          <p:cNvSpPr/>
          <p:nvPr/>
        </p:nvSpPr>
        <p:spPr>
          <a:xfrm>
            <a:off x="914400" y="5669280"/>
            <a:ext cx="10149840" cy="274320"/>
          </a:xfrm>
          <a:prstGeom prst="rect">
            <a:avLst/>
          </a:prstGeom>
          <a:noFill/>
          <a:ln/>
        </p:spPr>
        <p:txBody>
          <a:bodyPr wrap="square" lIns="0" tIns="0" rIns="0" bIns="0" rtlCol="0" anchor="ctr"/>
          <a:lstStyle/>
          <a:p>
            <a:pPr marL="0" indent="0" algn="ctr">
              <a:buNone/>
            </a:pPr>
            <a:r>
              <a:rPr lang="en-US" sz="1450" b="1" dirty="0">
                <a:solidFill>
                  <a:srgbClr val="0F172A"/>
                </a:solidFill>
              </a:rPr>
              <a:t>Ces difficultés sont utiles pédagogiquement : elles montrent que nous avons compris le fonctionnement interne du modèle.</a:t>
            </a:r>
            <a:endParaRPr lang="en-US" sz="1450" dirty="0"/>
          </a:p>
        </p:txBody>
      </p:sp>
      <p:sp>
        <p:nvSpPr>
          <p:cNvPr id="34"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marL="0" indent="0">
              <a:buNone/>
            </a:pPr>
            <a:r>
              <a:rPr lang="en-US" sz="2500" b="1" dirty="0">
                <a:solidFill>
                  <a:srgbClr val="0F172A"/>
                </a:solidFill>
                <a:latin typeface="Aptos Display" pitchFamily="34" charset="0"/>
                <a:ea typeface="Aptos Display" pitchFamily="34" charset="-122"/>
                <a:cs typeface="Aptos Display" pitchFamily="34" charset="-120"/>
              </a:rPr>
              <a:t>Limites et conclusion</a:t>
            </a:r>
            <a:endParaRPr lang="en-US" sz="2500" dirty="0"/>
          </a:p>
        </p:txBody>
      </p:sp>
      <p:sp>
        <p:nvSpPr>
          <p:cNvPr id="3" name="Text 1"/>
          <p:cNvSpPr/>
          <p:nvPr/>
        </p:nvSpPr>
        <p:spPr>
          <a:xfrm>
            <a:off x="612648" y="758952"/>
            <a:ext cx="8046720" cy="228600"/>
          </a:xfrm>
          <a:prstGeom prst="rect">
            <a:avLst/>
          </a:prstGeom>
          <a:noFill/>
          <a:ln/>
        </p:spPr>
        <p:txBody>
          <a:bodyPr wrap="square" lIns="0" tIns="0" rIns="0" bIns="0" rtlCol="0" anchor="ctr"/>
          <a:lstStyle/>
          <a:p>
            <a:pPr marL="0" indent="0">
              <a:buNone/>
            </a:pPr>
            <a:r>
              <a:rPr lang="en-US" sz="950" dirty="0">
                <a:solidFill>
                  <a:srgbClr val="475569"/>
                </a:solidFill>
              </a:rPr>
              <a:t>Analyse critique du modèle et bilan du projet</a:t>
            </a:r>
            <a:endParaRPr lang="en-US" sz="950" dirty="0"/>
          </a:p>
        </p:txBody>
      </p:sp>
      <p:sp>
        <p:nvSpPr>
          <p:cNvPr id="4" name="Shape 2"/>
          <p:cNvSpPr/>
          <p:nvPr/>
        </p:nvSpPr>
        <p:spPr>
          <a:xfrm>
            <a:off x="594360" y="1014984"/>
            <a:ext cx="10972800" cy="0"/>
          </a:xfrm>
          <a:prstGeom prst="line">
            <a:avLst/>
          </a:prstGeom>
          <a:noFill/>
          <a:ln w="10160">
            <a:solidFill>
              <a:srgbClr val="CBD5E1"/>
            </a:solidFill>
            <a:prstDash val="solid"/>
          </a:ln>
        </p:spPr>
        <p:txBody>
          <a:bodyPr/>
          <a:lstStyle/>
          <a:p>
            <a:endParaRPr lang="fr-FR"/>
          </a:p>
        </p:txBody>
      </p:sp>
      <p:sp>
        <p:nvSpPr>
          <p:cNvPr id="5" name="Text 3"/>
          <p:cNvSpPr/>
          <p:nvPr/>
        </p:nvSpPr>
        <p:spPr>
          <a:xfrm>
            <a:off x="594360" y="6446520"/>
            <a:ext cx="7772400" cy="164592"/>
          </a:xfrm>
          <a:prstGeom prst="rect">
            <a:avLst/>
          </a:prstGeom>
          <a:noFill/>
          <a:ln/>
        </p:spPr>
        <p:txBody>
          <a:bodyPr wrap="square" lIns="0" tIns="0" rIns="0" bIns="0" rtlCol="0" anchor="ctr"/>
          <a:lstStyle/>
          <a:p>
            <a:pPr marL="0" indent="0">
              <a:buNone/>
            </a:pPr>
            <a:r>
              <a:rPr lang="en-US" sz="800" dirty="0">
                <a:solidFill>
                  <a:srgbClr val="64748B"/>
                </a:solidFill>
              </a:rPr>
              <a:t>Projet Mathématiques-Informatique · Régression logistique</a:t>
            </a:r>
            <a:endParaRPr lang="en-US" sz="800" dirty="0"/>
          </a:p>
        </p:txBody>
      </p:sp>
      <p:sp>
        <p:nvSpPr>
          <p:cNvPr id="6" name="Shape 4"/>
          <p:cNvSpPr/>
          <p:nvPr/>
        </p:nvSpPr>
        <p:spPr>
          <a:xfrm>
            <a:off x="822960" y="1325880"/>
            <a:ext cx="3474720" cy="1234440"/>
          </a:xfrm>
          <a:prstGeom prst="roundRect">
            <a:avLst>
              <a:gd name="adj" fmla="val 5926"/>
            </a:avLst>
          </a:prstGeom>
          <a:solidFill>
            <a:srgbClr val="FFFFFF"/>
          </a:solidFill>
          <a:ln w="12700">
            <a:solidFill>
              <a:srgbClr val="475569"/>
            </a:solidFill>
            <a:prstDash val="solid"/>
          </a:ln>
        </p:spPr>
        <p:txBody>
          <a:bodyPr/>
          <a:lstStyle/>
          <a:p>
            <a:endParaRPr lang="fr-FR"/>
          </a:p>
        </p:txBody>
      </p:sp>
      <p:sp>
        <p:nvSpPr>
          <p:cNvPr id="7" name="Text 5"/>
          <p:cNvSpPr/>
          <p:nvPr/>
        </p:nvSpPr>
        <p:spPr>
          <a:xfrm>
            <a:off x="987552" y="1435608"/>
            <a:ext cx="3145536" cy="228600"/>
          </a:xfrm>
          <a:prstGeom prst="rect">
            <a:avLst/>
          </a:prstGeom>
          <a:noFill/>
          <a:ln/>
        </p:spPr>
        <p:txBody>
          <a:bodyPr wrap="square" lIns="0" tIns="0" rIns="0" bIns="0" rtlCol="0" anchor="ctr"/>
          <a:lstStyle/>
          <a:p>
            <a:pPr marL="0" indent="0">
              <a:buNone/>
            </a:pPr>
            <a:r>
              <a:rPr lang="en-US" sz="1200" b="1" dirty="0">
                <a:solidFill>
                  <a:srgbClr val="0F172A"/>
                </a:solidFill>
              </a:rPr>
              <a:t>Limite 1 : linéarité</a:t>
            </a:r>
            <a:endParaRPr lang="en-US" sz="1200" dirty="0"/>
          </a:p>
        </p:txBody>
      </p:sp>
      <p:sp>
        <p:nvSpPr>
          <p:cNvPr id="8" name="Text 6"/>
          <p:cNvSpPr/>
          <p:nvPr/>
        </p:nvSpPr>
        <p:spPr>
          <a:xfrm>
            <a:off x="987552" y="1764792"/>
            <a:ext cx="3145536" cy="64008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La régression logistique sépare les classes avec une frontière linéaire dans l’espace des variables.</a:t>
            </a:r>
            <a:endParaRPr lang="en-US" sz="1050" dirty="0"/>
          </a:p>
        </p:txBody>
      </p:sp>
      <p:sp>
        <p:nvSpPr>
          <p:cNvPr id="9" name="Shape 7"/>
          <p:cNvSpPr/>
          <p:nvPr/>
        </p:nvSpPr>
        <p:spPr>
          <a:xfrm>
            <a:off x="4434840" y="1325880"/>
            <a:ext cx="3474720" cy="1234440"/>
          </a:xfrm>
          <a:prstGeom prst="roundRect">
            <a:avLst>
              <a:gd name="adj" fmla="val 5926"/>
            </a:avLst>
          </a:prstGeom>
          <a:solidFill>
            <a:srgbClr val="FFFFFF"/>
          </a:solidFill>
          <a:ln w="12700">
            <a:solidFill>
              <a:srgbClr val="475569"/>
            </a:solidFill>
            <a:prstDash val="solid"/>
          </a:ln>
        </p:spPr>
        <p:txBody>
          <a:bodyPr/>
          <a:lstStyle/>
          <a:p>
            <a:endParaRPr lang="fr-FR"/>
          </a:p>
        </p:txBody>
      </p:sp>
      <p:sp>
        <p:nvSpPr>
          <p:cNvPr id="10" name="Text 8"/>
          <p:cNvSpPr/>
          <p:nvPr/>
        </p:nvSpPr>
        <p:spPr>
          <a:xfrm>
            <a:off x="4599432" y="1435608"/>
            <a:ext cx="3145536" cy="228600"/>
          </a:xfrm>
          <a:prstGeom prst="rect">
            <a:avLst/>
          </a:prstGeom>
          <a:noFill/>
          <a:ln/>
        </p:spPr>
        <p:txBody>
          <a:bodyPr wrap="square" lIns="0" tIns="0" rIns="0" bIns="0" rtlCol="0" anchor="ctr"/>
          <a:lstStyle/>
          <a:p>
            <a:pPr marL="0" indent="0">
              <a:buNone/>
            </a:pPr>
            <a:r>
              <a:rPr lang="en-US" sz="1200" b="1" dirty="0">
                <a:solidFill>
                  <a:srgbClr val="0F172A"/>
                </a:solidFill>
              </a:rPr>
              <a:t>Limite 2 : qualité des données</a:t>
            </a:r>
            <a:endParaRPr lang="en-US" sz="1200" dirty="0"/>
          </a:p>
        </p:txBody>
      </p:sp>
      <p:sp>
        <p:nvSpPr>
          <p:cNvPr id="11" name="Text 9"/>
          <p:cNvSpPr/>
          <p:nvPr/>
        </p:nvSpPr>
        <p:spPr>
          <a:xfrm>
            <a:off x="4599432" y="1764792"/>
            <a:ext cx="3145536" cy="64008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Le modèle dépend fortement du choix des variables, de l’encodage et de la normalisation.</a:t>
            </a:r>
            <a:endParaRPr lang="en-US" sz="1050" dirty="0"/>
          </a:p>
        </p:txBody>
      </p:sp>
      <p:sp>
        <p:nvSpPr>
          <p:cNvPr id="12" name="Shape 10"/>
          <p:cNvSpPr/>
          <p:nvPr/>
        </p:nvSpPr>
        <p:spPr>
          <a:xfrm>
            <a:off x="8046720" y="1325880"/>
            <a:ext cx="3474720" cy="1234440"/>
          </a:xfrm>
          <a:prstGeom prst="roundRect">
            <a:avLst>
              <a:gd name="adj" fmla="val 5926"/>
            </a:avLst>
          </a:prstGeom>
          <a:solidFill>
            <a:srgbClr val="FFFFFF"/>
          </a:solidFill>
          <a:ln w="12700">
            <a:solidFill>
              <a:srgbClr val="475569"/>
            </a:solidFill>
            <a:prstDash val="solid"/>
          </a:ln>
        </p:spPr>
        <p:txBody>
          <a:bodyPr/>
          <a:lstStyle/>
          <a:p>
            <a:endParaRPr lang="fr-FR"/>
          </a:p>
        </p:txBody>
      </p:sp>
      <p:sp>
        <p:nvSpPr>
          <p:cNvPr id="13" name="Text 11"/>
          <p:cNvSpPr/>
          <p:nvPr/>
        </p:nvSpPr>
        <p:spPr>
          <a:xfrm>
            <a:off x="8211312" y="1435608"/>
            <a:ext cx="3145536" cy="228600"/>
          </a:xfrm>
          <a:prstGeom prst="rect">
            <a:avLst/>
          </a:prstGeom>
          <a:noFill/>
          <a:ln/>
        </p:spPr>
        <p:txBody>
          <a:bodyPr wrap="square" lIns="0" tIns="0" rIns="0" bIns="0" rtlCol="0" anchor="ctr"/>
          <a:lstStyle/>
          <a:p>
            <a:pPr marL="0" indent="0">
              <a:buNone/>
            </a:pPr>
            <a:r>
              <a:rPr lang="en-US" sz="1200" b="1" dirty="0">
                <a:solidFill>
                  <a:srgbClr val="0F172A"/>
                </a:solidFill>
              </a:rPr>
              <a:t>Limite 3 : classes déséquilibrées</a:t>
            </a:r>
            <a:endParaRPr lang="en-US" sz="1200" dirty="0"/>
          </a:p>
        </p:txBody>
      </p:sp>
      <p:sp>
        <p:nvSpPr>
          <p:cNvPr id="14" name="Text 12"/>
          <p:cNvSpPr/>
          <p:nvPr/>
        </p:nvSpPr>
        <p:spPr>
          <a:xfrm>
            <a:off x="8211312" y="1764792"/>
            <a:ext cx="3145536" cy="640080"/>
          </a:xfrm>
          <a:prstGeom prst="rect">
            <a:avLst/>
          </a:prstGeom>
          <a:noFill/>
          <a:ln/>
        </p:spPr>
        <p:txBody>
          <a:bodyPr wrap="square" lIns="254" tIns="254" rIns="254" bIns="254" rtlCol="0" anchor="ctr">
            <a:normAutofit/>
          </a:bodyPr>
          <a:lstStyle/>
          <a:p>
            <a:pPr marL="0" indent="0">
              <a:buNone/>
            </a:pPr>
            <a:r>
              <a:rPr lang="en-US" sz="1050" dirty="0">
                <a:solidFill>
                  <a:srgbClr val="475569"/>
                </a:solidFill>
              </a:rPr>
              <a:t>Si une classe est rare, l’accuracy peut donner une impression trop optimiste.</a:t>
            </a:r>
            <a:endParaRPr lang="en-US" sz="1050" dirty="0"/>
          </a:p>
        </p:txBody>
      </p:sp>
      <p:sp>
        <p:nvSpPr>
          <p:cNvPr id="15" name="Text 13"/>
          <p:cNvSpPr/>
          <p:nvPr/>
        </p:nvSpPr>
        <p:spPr>
          <a:xfrm>
            <a:off x="914400" y="3154680"/>
            <a:ext cx="2926080" cy="320040"/>
          </a:xfrm>
          <a:prstGeom prst="rect">
            <a:avLst/>
          </a:prstGeom>
          <a:noFill/>
          <a:ln/>
        </p:spPr>
        <p:txBody>
          <a:bodyPr wrap="square" lIns="0" tIns="0" rIns="0" bIns="0" rtlCol="0" anchor="ctr"/>
          <a:lstStyle/>
          <a:p>
            <a:pPr marL="0" indent="0">
              <a:buNone/>
            </a:pPr>
            <a:r>
              <a:rPr lang="en-US" sz="2200" b="1" dirty="0">
                <a:solidFill>
                  <a:srgbClr val="1D4ED8"/>
                </a:solidFill>
              </a:rPr>
              <a:t>Bilan</a:t>
            </a:r>
            <a:endParaRPr lang="en-US" sz="2200" dirty="0"/>
          </a:p>
        </p:txBody>
      </p:sp>
      <p:sp>
        <p:nvSpPr>
          <p:cNvPr id="16" name="Text 14"/>
          <p:cNvSpPr/>
          <p:nvPr/>
        </p:nvSpPr>
        <p:spPr>
          <a:xfrm>
            <a:off x="1005840" y="3703320"/>
            <a:ext cx="9601200" cy="292608"/>
          </a:xfrm>
          <a:prstGeom prst="rect">
            <a:avLst/>
          </a:prstGeom>
          <a:noFill/>
          <a:ln/>
        </p:spPr>
        <p:txBody>
          <a:bodyPr wrap="square" lIns="0" tIns="0" rIns="0" bIns="0" rtlCol="0" anchor="ctr">
            <a:normAutofit/>
          </a:bodyPr>
          <a:lstStyle/>
          <a:p>
            <a:pPr marL="0" indent="0">
              <a:buNone/>
            </a:pPr>
            <a:r>
              <a:rPr lang="en-US" sz="1400" b="1" dirty="0">
                <a:solidFill>
                  <a:srgbClr val="1D4ED8"/>
                </a:solidFill>
              </a:rPr>
              <a:t>• </a:t>
            </a:r>
            <a:r>
              <a:rPr lang="en-US" sz="1400" dirty="0">
                <a:solidFill>
                  <a:srgbClr val="0F172A"/>
                </a:solidFill>
              </a:rPr>
              <a:t>Nous avons implémenté toutes les étapes principales du modèle.</a:t>
            </a:r>
            <a:endParaRPr lang="en-US" sz="1400" dirty="0"/>
          </a:p>
        </p:txBody>
      </p:sp>
      <p:sp>
        <p:nvSpPr>
          <p:cNvPr id="17" name="Text 15"/>
          <p:cNvSpPr/>
          <p:nvPr/>
        </p:nvSpPr>
        <p:spPr>
          <a:xfrm>
            <a:off x="1005840" y="4251960"/>
            <a:ext cx="9601200" cy="292608"/>
          </a:xfrm>
          <a:prstGeom prst="rect">
            <a:avLst/>
          </a:prstGeom>
          <a:noFill/>
          <a:ln/>
        </p:spPr>
        <p:txBody>
          <a:bodyPr wrap="square" lIns="0" tIns="0" rIns="0" bIns="0" rtlCol="0" anchor="ctr">
            <a:normAutofit/>
          </a:bodyPr>
          <a:lstStyle/>
          <a:p>
            <a:pPr marL="0" indent="0">
              <a:buNone/>
            </a:pPr>
            <a:r>
              <a:rPr lang="en-US" sz="1400" b="1" dirty="0">
                <a:solidFill>
                  <a:srgbClr val="1D4ED8"/>
                </a:solidFill>
              </a:rPr>
              <a:t>• </a:t>
            </a:r>
            <a:r>
              <a:rPr lang="en-US" sz="1400" dirty="0">
                <a:solidFill>
                  <a:srgbClr val="0F172A"/>
                </a:solidFill>
              </a:rPr>
              <a:t>Nous avons entraîné les paramètres par descente de gradient.</a:t>
            </a:r>
            <a:endParaRPr lang="en-US" sz="1400" dirty="0"/>
          </a:p>
        </p:txBody>
      </p:sp>
      <p:sp>
        <p:nvSpPr>
          <p:cNvPr id="18" name="Text 16"/>
          <p:cNvSpPr/>
          <p:nvPr/>
        </p:nvSpPr>
        <p:spPr>
          <a:xfrm>
            <a:off x="1005840" y="4800600"/>
            <a:ext cx="6492240" cy="292608"/>
          </a:xfrm>
          <a:prstGeom prst="rect">
            <a:avLst/>
          </a:prstGeom>
          <a:noFill/>
          <a:ln/>
        </p:spPr>
        <p:txBody>
          <a:bodyPr wrap="square" lIns="0" tIns="0" rIns="0" bIns="0" rtlCol="0" anchor="ctr">
            <a:normAutofit/>
          </a:bodyPr>
          <a:lstStyle/>
          <a:p>
            <a:pPr marL="0" indent="0">
              <a:buNone/>
            </a:pPr>
            <a:r>
              <a:rPr lang="en-US" sz="1400" b="1" dirty="0">
                <a:solidFill>
                  <a:srgbClr val="1D4ED8"/>
                </a:solidFill>
              </a:rPr>
              <a:t>• </a:t>
            </a:r>
            <a:r>
              <a:rPr lang="en-US" sz="1400" dirty="0">
                <a:solidFill>
                  <a:srgbClr val="0F172A"/>
                </a:solidFill>
              </a:rPr>
              <a:t>Nous avons évalué les performances et interprété les coefficients.</a:t>
            </a:r>
            <a:endParaRPr lang="en-US" sz="1400" dirty="0"/>
          </a:p>
        </p:txBody>
      </p:sp>
      <p:sp>
        <p:nvSpPr>
          <p:cNvPr id="19" name="Shape 17"/>
          <p:cNvSpPr/>
          <p:nvPr/>
        </p:nvSpPr>
        <p:spPr>
          <a:xfrm>
            <a:off x="7818120" y="5166360"/>
            <a:ext cx="3474720" cy="731520"/>
          </a:xfrm>
          <a:prstGeom prst="roundRect">
            <a:avLst/>
          </a:prstGeom>
          <a:solidFill>
            <a:srgbClr val="0F172A"/>
          </a:solidFill>
          <a:ln w="12700">
            <a:solidFill>
              <a:srgbClr val="0F172A"/>
            </a:solidFill>
            <a:prstDash val="solid"/>
          </a:ln>
        </p:spPr>
        <p:txBody>
          <a:bodyPr/>
          <a:lstStyle/>
          <a:p>
            <a:endParaRPr lang="fr-FR"/>
          </a:p>
        </p:txBody>
      </p:sp>
      <p:sp>
        <p:nvSpPr>
          <p:cNvPr id="20" name="Text 18"/>
          <p:cNvSpPr/>
          <p:nvPr/>
        </p:nvSpPr>
        <p:spPr>
          <a:xfrm>
            <a:off x="8138160" y="5394960"/>
            <a:ext cx="2834640" cy="164592"/>
          </a:xfrm>
          <a:prstGeom prst="rect">
            <a:avLst/>
          </a:prstGeom>
          <a:noFill/>
          <a:ln/>
        </p:spPr>
        <p:txBody>
          <a:bodyPr wrap="square" lIns="0" tIns="0" rIns="0" bIns="0" rtlCol="0" anchor="ctr"/>
          <a:lstStyle/>
          <a:p>
            <a:pPr marL="0" indent="0" algn="ctr">
              <a:buNone/>
            </a:pPr>
            <a:r>
              <a:rPr lang="en-US" sz="1400" b="1" dirty="0">
                <a:solidFill>
                  <a:srgbClr val="FFFFFF"/>
                </a:solidFill>
              </a:rPr>
              <a:t>Merci pour votre attention</a:t>
            </a:r>
            <a:endParaRPr lang="en-US" sz="1400" dirty="0"/>
          </a:p>
        </p:txBody>
      </p:sp>
      <p:sp>
        <p:nvSpPr>
          <p:cNvPr id="25" name="Slide Number Placeholder 0"/>
          <p:cNvSpPr>
            <a:spLocks noGrp="1"/>
          </p:cNvSpPr>
          <p:nvPr>
            <p:ph type="sldNum" sz="quarter" idx="4294967295"/>
          </p:nvPr>
        </p:nvSpPr>
        <p:spPr>
          <a:xfrm>
            <a:off x="111556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l"/>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2022</Words>
  <Application>Microsoft Macintosh PowerPoint</Application>
  <PresentationFormat>Grand écran</PresentationFormat>
  <Paragraphs>247</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Aptos</vt:lpstr>
      <vt:lpstr>Aptos Display</vt:lpstr>
      <vt:lpstr>Aptos Mono</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Université Aix-Marseille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projet régression logistique</dc:title>
  <dc:subject>Projet Mathématiques-Informatique : Régression logistique</dc:subject>
  <dc:creator>OpenAI</dc:creator>
  <cp:lastModifiedBy>Kenza Benmansour</cp:lastModifiedBy>
  <cp:revision>2</cp:revision>
  <dcterms:created xsi:type="dcterms:W3CDTF">2026-06-18T11:52:44Z</dcterms:created>
  <dcterms:modified xsi:type="dcterms:W3CDTF">2026-06-18T12:39:56Z</dcterms:modified>
</cp:coreProperties>
</file>